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62" r:id="rId2"/>
    <p:sldId id="455" r:id="rId3"/>
    <p:sldId id="457" r:id="rId4"/>
    <p:sldId id="456" r:id="rId5"/>
    <p:sldId id="458" r:id="rId6"/>
    <p:sldId id="460" r:id="rId7"/>
    <p:sldId id="459" r:id="rId8"/>
    <p:sldId id="461" r:id="rId9"/>
    <p:sldId id="462" r:id="rId10"/>
    <p:sldId id="463" r:id="rId11"/>
    <p:sldId id="464" r:id="rId12"/>
    <p:sldId id="465" r:id="rId13"/>
    <p:sldId id="466" r:id="rId14"/>
    <p:sldId id="467" r:id="rId15"/>
    <p:sldId id="468" r:id="rId16"/>
    <p:sldId id="469" r:id="rId17"/>
    <p:sldId id="470" r:id="rId18"/>
    <p:sldId id="471" r:id="rId19"/>
    <p:sldId id="472"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43"/>
  </p:normalViewPr>
  <p:slideViewPr>
    <p:cSldViewPr snapToGrid="0" snapToObjects="1">
      <p:cViewPr varScale="1">
        <p:scale>
          <a:sx n="115" d="100"/>
          <a:sy n="115" d="100"/>
        </p:scale>
        <p:origin x="158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E3DA7-3E4A-4739-BD5C-AC441539B43E}" type="datetimeFigureOut">
              <a:rPr lang="tr-TR" smtClean="0"/>
              <a:t>14.01.2026</a:t>
            </a:fld>
            <a:endParaRPr lang="tr-TR"/>
          </a:p>
        </p:txBody>
      </p:sp>
      <p:sp>
        <p:nvSpPr>
          <p:cNvPr id="4" name="Slayt Resmi Yer Tutucus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477D8D-1263-4152-98A6-E8FE0A271B02}" type="slidenum">
              <a:rPr lang="tr-TR" smtClean="0"/>
              <a:t>‹#›</a:t>
            </a:fld>
            <a:endParaRPr lang="tr-TR"/>
          </a:p>
        </p:txBody>
      </p:sp>
    </p:spTree>
    <p:extLst>
      <p:ext uri="{BB962C8B-B14F-4D97-AF65-F5344CB8AC3E}">
        <p14:creationId xmlns:p14="http://schemas.microsoft.com/office/powerpoint/2010/main" val="2295779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canvas.iuc.edu.tr/courses/70748"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293" y="1680587"/>
            <a:ext cx="10083649" cy="5674746"/>
          </a:xfrm>
        </p:spPr>
        <p:txBody>
          <a:bodyPr>
            <a:normAutofit fontScale="90000"/>
          </a:bodyPr>
          <a:lstStyle/>
          <a:p>
            <a:pPr marL="19050">
              <a:lnSpc>
                <a:spcPct val="150000"/>
              </a:lnSpc>
              <a:spcAft>
                <a:spcPts val="800"/>
              </a:spcAft>
            </a:pPr>
            <a:r>
              <a:rPr lang="tr-TR" sz="1800" b="1" kern="100" dirty="0">
                <a:effectLst/>
                <a:latin typeface="Times New Roman" panose="02020603050405020304" pitchFamily="18" charset="0"/>
                <a:ea typeface="Aptos" panose="020B0004020202020204" pitchFamily="34" charset="0"/>
                <a:cs typeface="Times New Roman" panose="02020603050405020304" pitchFamily="18" charset="0"/>
              </a:rPr>
              <a:t>İLERİ MATEMATİK PROGRAMLAMA </a:t>
            </a:r>
            <a:r>
              <a:rPr lang="tr-TR" sz="1800" b="1" u="none" strike="noStrike" kern="100" dirty="0">
                <a:effectLst/>
                <a:latin typeface="Times New Roman" panose="02020603050405020304" pitchFamily="18" charset="0"/>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a:t>
            </a:r>
            <a:r>
              <a:rPr lang="tr-TR" sz="1800" b="1" kern="100" dirty="0">
                <a:effectLst/>
                <a:latin typeface="Times New Roman" panose="02020603050405020304" pitchFamily="18" charset="0"/>
                <a:ea typeface="Aptos" panose="020B0004020202020204" pitchFamily="34" charset="0"/>
                <a:cs typeface="Times New Roman" panose="02020603050405020304" pitchFamily="18" charset="0"/>
              </a:rPr>
              <a:t>ETMU7044</a:t>
            </a:r>
            <a:r>
              <a:rPr lang="tr-TR" sz="1800" b="1" u="none" strike="noStrike" kern="100" dirty="0">
                <a:effectLst/>
                <a:latin typeface="Times New Roman" panose="02020603050405020304" pitchFamily="18" charset="0"/>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a:t>
            </a:r>
            <a:r>
              <a:rPr lang="tr-TR"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tr-TR" sz="1800" b="1" kern="100" dirty="0">
                <a:effectLst/>
                <a:latin typeface="Times New Roman" panose="02020603050405020304" pitchFamily="18" charset="0"/>
                <a:ea typeface="Aptos" panose="020B0004020202020204" pitchFamily="34" charset="0"/>
                <a:cs typeface="Times New Roman" panose="02020603050405020304" pitchFamily="18" charset="0"/>
              </a:rPr>
              <a:t>FİNAL ÖDEVİ              </a:t>
            </a:r>
            <a:r>
              <a:rPr lang="tr-TR" sz="1800" b="1" kern="100" dirty="0">
                <a:latin typeface="Times New Roman" panose="02020603050405020304" pitchFamily="18" charset="0"/>
                <a:ea typeface="Aptos" panose="020B0004020202020204" pitchFamily="34" charset="0"/>
                <a:cs typeface="Times New Roman" panose="02020603050405020304" pitchFamily="18" charset="0"/>
              </a:rPr>
              <a:t>                                                                                      </a:t>
            </a:r>
            <a:r>
              <a:rPr lang="tr-TR" sz="1800" b="1" kern="100" dirty="0">
                <a:effectLst/>
                <a:latin typeface="Times New Roman" panose="02020603050405020304" pitchFamily="18" charset="0"/>
                <a:ea typeface="Aptos" panose="020B0004020202020204" pitchFamily="34" charset="0"/>
                <a:cs typeface="Times New Roman" panose="02020603050405020304" pitchFamily="18" charset="0"/>
              </a:rPr>
              <a:t>                       </a:t>
            </a:r>
            <a:br>
              <a:rPr lang="tr-TR" sz="1800" b="1" kern="100" dirty="0">
                <a:effectLst/>
                <a:latin typeface="Times New Roman" panose="02020603050405020304" pitchFamily="18" charset="0"/>
                <a:ea typeface="Aptos" panose="020B0004020202020204" pitchFamily="34" charset="0"/>
                <a:cs typeface="Times New Roman" panose="02020603050405020304" pitchFamily="18" charset="0"/>
              </a:rPr>
            </a:br>
            <a:r>
              <a:rPr lang="tr-TR" sz="1800" b="1" kern="100" dirty="0">
                <a:effectLst/>
                <a:latin typeface="Times New Roman" panose="02020603050405020304" pitchFamily="18" charset="0"/>
                <a:ea typeface="Aptos" panose="020B0004020202020204" pitchFamily="34" charset="0"/>
                <a:cs typeface="Times New Roman" panose="02020603050405020304" pitchFamily="18" charset="0"/>
              </a:rPr>
              <a:t>HASTANE HEMŞİRE VARDİYA ÇİZELGELEME VE İŞ YÜKÜ OPTİMİZASYONU</a:t>
            </a:r>
            <a:br>
              <a:rPr lang="tr-TR" sz="1800" kern="100" dirty="0">
                <a:effectLst/>
                <a:latin typeface="Times New Roman" panose="02020603050405020304" pitchFamily="18" charset="0"/>
                <a:ea typeface="Aptos" panose="020B0004020202020204" pitchFamily="34" charset="0"/>
                <a:cs typeface="Times New Roman" panose="02020603050405020304" pitchFamily="18" charset="0"/>
              </a:rPr>
            </a:br>
            <a:br>
              <a:rPr lang="tr-TR" sz="1800" kern="100" dirty="0">
                <a:effectLst/>
                <a:latin typeface="Times New Roman" panose="02020603050405020304" pitchFamily="18" charset="0"/>
                <a:ea typeface="Aptos" panose="020B0004020202020204" pitchFamily="34" charset="0"/>
                <a:cs typeface="Times New Roman" panose="02020603050405020304" pitchFamily="18" charset="0"/>
              </a:rPr>
            </a:br>
            <a:r>
              <a:rPr lang="tr-TR" sz="1800" b="1" kern="100" dirty="0">
                <a:effectLst/>
                <a:latin typeface="Times New Roman" panose="02020603050405020304" pitchFamily="18" charset="0"/>
                <a:ea typeface="Aptos" panose="020B0004020202020204" pitchFamily="34" charset="0"/>
                <a:cs typeface="Times New Roman" panose="02020603050405020304" pitchFamily="18" charset="0"/>
              </a:rPr>
              <a:t>DANIŞMAN: Dr. Öğr. Üyesi Özay ÖZAYDIN</a:t>
            </a:r>
            <a:br>
              <a:rPr lang="tr-TR" sz="1800" b="1" kern="100" dirty="0">
                <a:effectLst/>
                <a:latin typeface="Times New Roman" panose="02020603050405020304" pitchFamily="18" charset="0"/>
                <a:ea typeface="Aptos" panose="020B0004020202020204" pitchFamily="34" charset="0"/>
                <a:cs typeface="Times New Roman" panose="02020603050405020304" pitchFamily="18" charset="0"/>
              </a:rPr>
            </a:br>
            <a:br>
              <a:rPr lang="tr-TR" sz="1800" kern="100" dirty="0">
                <a:effectLst/>
                <a:latin typeface="Times New Roman" panose="02020603050405020304" pitchFamily="18" charset="0"/>
                <a:ea typeface="Aptos" panose="020B0004020202020204" pitchFamily="34" charset="0"/>
                <a:cs typeface="Times New Roman" panose="02020603050405020304" pitchFamily="18" charset="0"/>
              </a:rPr>
            </a:br>
            <a:r>
              <a:rPr lang="tr-TR" sz="1800" b="1" kern="100" dirty="0">
                <a:latin typeface="Times New Roman" panose="02020603050405020304" pitchFamily="18" charset="0"/>
                <a:cs typeface="Times New Roman" panose="02020603050405020304" pitchFamily="18" charset="0"/>
              </a:rPr>
              <a:t>Betül AKSAKAL 4801240665</a:t>
            </a:r>
            <a:br>
              <a:rPr lang="tr-TR" sz="1800" b="1" kern="100" dirty="0">
                <a:latin typeface="Times New Roman" panose="02020603050405020304" pitchFamily="18" charset="0"/>
                <a:cs typeface="Times New Roman" panose="02020603050405020304" pitchFamily="18" charset="0"/>
              </a:rPr>
            </a:br>
            <a:r>
              <a:rPr lang="tr-TR" sz="1800" b="1" kern="100" dirty="0">
                <a:latin typeface="Times New Roman" panose="02020603050405020304" pitchFamily="18" charset="0"/>
                <a:cs typeface="Times New Roman" panose="02020603050405020304" pitchFamily="18" charset="0"/>
              </a:rPr>
              <a:t>Aysun ÖZTÜRK 4801250645</a:t>
            </a:r>
            <a:br>
              <a:rPr lang="tr-TR" sz="1800" b="1" kern="100" dirty="0">
                <a:latin typeface="Times New Roman" panose="02020603050405020304" pitchFamily="18" charset="0"/>
                <a:cs typeface="Times New Roman" panose="02020603050405020304" pitchFamily="18" charset="0"/>
              </a:rPr>
            </a:br>
            <a:r>
              <a:rPr lang="tr-TR" sz="1800" b="1" kern="100" dirty="0">
                <a:latin typeface="Times New Roman" panose="02020603050405020304" pitchFamily="18" charset="0"/>
                <a:cs typeface="Times New Roman" panose="02020603050405020304" pitchFamily="18" charset="0"/>
              </a:rPr>
              <a:t>Hande TOPRAK 4801240673</a:t>
            </a:r>
            <a:br>
              <a:rPr lang="tr-TR" sz="1800" b="1" kern="100" dirty="0">
                <a:latin typeface="Times New Roman" panose="02020603050405020304" pitchFamily="18" charset="0"/>
                <a:ea typeface="Aptos" panose="020B0004020202020204" pitchFamily="34" charset="0"/>
                <a:cs typeface="Times New Roman" panose="02020603050405020304" pitchFamily="18" charset="0"/>
              </a:rPr>
            </a:br>
            <a:br>
              <a:rPr lang="tr-TR" sz="1800" b="1" kern="100" dirty="0">
                <a:latin typeface="Times New Roman" panose="02020603050405020304" pitchFamily="18" charset="0"/>
                <a:ea typeface="Aptos" panose="020B0004020202020204" pitchFamily="34" charset="0"/>
                <a:cs typeface="Times New Roman" panose="02020603050405020304" pitchFamily="18" charset="0"/>
              </a:rPr>
            </a:br>
            <a:br>
              <a:rPr lang="tr-TR" sz="1800" kern="100" dirty="0">
                <a:effectLst/>
                <a:latin typeface="Times New Roman" panose="02020603050405020304" pitchFamily="18" charset="0"/>
                <a:ea typeface="Aptos" panose="020B0004020202020204" pitchFamily="34" charset="0"/>
                <a:cs typeface="Times New Roman" panose="02020603050405020304" pitchFamily="18" charset="0"/>
              </a:rPr>
            </a:br>
            <a:br>
              <a:rPr lang="tr-TR" sz="1800" kern="100" dirty="0">
                <a:effectLst/>
                <a:latin typeface="Aptos" panose="020B0004020202020204" pitchFamily="34" charset="0"/>
                <a:ea typeface="Aptos" panose="020B0004020202020204" pitchFamily="34" charset="0"/>
                <a:cs typeface="Times New Roman" panose="02020603050405020304" pitchFamily="18" charset="0"/>
              </a:rPr>
            </a:br>
            <a:br>
              <a:rPr lang="tr-TR" sz="1800" kern="100" dirty="0">
                <a:effectLst/>
                <a:latin typeface="Aptos" panose="020B0004020202020204" pitchFamily="34" charset="0"/>
                <a:ea typeface="Aptos" panose="020B0004020202020204" pitchFamily="34" charset="0"/>
                <a:cs typeface="Times New Roman" panose="02020603050405020304" pitchFamily="18" charset="0"/>
              </a:rPr>
            </a:br>
            <a:br>
              <a:rPr lang="tr-TR" sz="2000" dirty="0">
                <a:effectLst/>
                <a:latin typeface="Times New Roman" panose="02020603050405020304" pitchFamily="18"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endParaRPr lang="tr-TR" sz="1400" dirty="0"/>
          </a:p>
        </p:txBody>
      </p:sp>
      <p:sp>
        <p:nvSpPr>
          <p:cNvPr id="5" name="Rectangle 2">
            <a:extLst>
              <a:ext uri="{FF2B5EF4-FFF2-40B4-BE49-F238E27FC236}">
                <a16:creationId xmlns:a16="http://schemas.microsoft.com/office/drawing/2014/main" id="{AF9AB2B3-42AB-C2F9-83A7-8AC22DEAB03B}"/>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DD398E5D-7307-6F90-CEB0-2B8D68032EBC}"/>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0AB2D712-8F2D-BFED-3E0C-0C7032D5E6F5}"/>
              </a:ext>
            </a:extLst>
          </p:cNvPr>
          <p:cNvPicPr/>
          <p:nvPr/>
        </p:nvPicPr>
        <p:blipFill>
          <a:blip r:embed="rId3"/>
          <a:stretch>
            <a:fillRect/>
          </a:stretch>
        </p:blipFill>
        <p:spPr>
          <a:xfrm>
            <a:off x="148321" y="372176"/>
            <a:ext cx="1074957" cy="1070574"/>
          </a:xfrm>
          <a:prstGeom prst="rect">
            <a:avLst/>
          </a:prstGeom>
        </p:spPr>
      </p:pic>
      <p:sp>
        <p:nvSpPr>
          <p:cNvPr id="9" name="TextBox 8">
            <a:extLst>
              <a:ext uri="{FF2B5EF4-FFF2-40B4-BE49-F238E27FC236}">
                <a16:creationId xmlns:a16="http://schemas.microsoft.com/office/drawing/2014/main" id="{A7507958-6050-890A-1201-CE050F4D0CA3}"/>
              </a:ext>
            </a:extLst>
          </p:cNvPr>
          <p:cNvSpPr txBox="1"/>
          <p:nvPr/>
        </p:nvSpPr>
        <p:spPr>
          <a:xfrm>
            <a:off x="4032538" y="6338923"/>
            <a:ext cx="2433484" cy="369332"/>
          </a:xfrm>
          <a:prstGeom prst="rect">
            <a:avLst/>
          </a:prstGeom>
          <a:noFill/>
        </p:spPr>
        <p:txBody>
          <a:bodyPr wrap="square" rtlCol="0">
            <a:spAutoFit/>
          </a:bodyPr>
          <a:lstStyle/>
          <a:p>
            <a:r>
              <a:rPr lang="tr-TR" b="1" dirty="0">
                <a:latin typeface="Times New Roman" panose="02020603050405020304" pitchFamily="18" charset="0"/>
                <a:cs typeface="Times New Roman" panose="02020603050405020304" pitchFamily="18" charset="0"/>
              </a:rPr>
              <a:t>Ocak, 2026</a:t>
            </a:r>
          </a:p>
        </p:txBody>
      </p:sp>
    </p:spTree>
    <p:extLst>
      <p:ext uri="{BB962C8B-B14F-4D97-AF65-F5344CB8AC3E}">
        <p14:creationId xmlns:p14="http://schemas.microsoft.com/office/powerpoint/2010/main" val="665265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4D4D3-4BA8-F7AD-2FDD-9C13933AE669}"/>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A8B4C8EA-DC33-9911-4154-7F631C45A546}"/>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DBB15AE5-96E3-7B85-DB16-32740EAB653A}"/>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5605AD6B-5AC1-ADCF-DC82-B065C87A18F3}"/>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E302E981-DE6F-F339-7DA6-1141216DCC23}"/>
              </a:ext>
            </a:extLst>
          </p:cNvPr>
          <p:cNvSpPr>
            <a:spLocks noGrp="1"/>
          </p:cNvSpPr>
          <p:nvPr>
            <p:ph type="ctrTitle"/>
          </p:nvPr>
        </p:nvSpPr>
        <p:spPr>
          <a:xfrm>
            <a:off x="685800" y="2130425"/>
            <a:ext cx="7772400" cy="3591949"/>
          </a:xfrm>
        </p:spPr>
        <p:txBody>
          <a:bodyPr>
            <a:noAutofit/>
          </a:bodyPr>
          <a:lstStyle/>
          <a:p>
            <a:pPr algn="l">
              <a:lnSpc>
                <a:spcPct val="150000"/>
              </a:lnSpc>
            </a:pPr>
            <a:r>
              <a:rPr lang="tr-TR" sz="1400" b="1" dirty="0">
                <a:latin typeface="Times New Roman" panose="02020603050405020304" pitchFamily="18" charset="0"/>
                <a:cs typeface="Times New Roman" panose="02020603050405020304" pitchFamily="18" charset="0"/>
              </a:rPr>
              <a:t>1. GİRİŞ</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2. LİTERATÜR TARAMASI</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3. PROBLEM TANIMI</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3. VERİ SETİ TANITIMI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4. MODEL TANITIMI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4.1 KARAR DEĞİŞKENLERİ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4.2 AMAÇ FONKSİYONU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4.3 KISITLAR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4.4 VARSAYIMLAR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5. PYTHON KISMI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6. SONUÇLAR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7. YORUMLAR	</a:t>
            </a:r>
            <a:br>
              <a:rPr lang="tr-TR" sz="1400" b="1" dirty="0">
                <a:latin typeface="Times New Roman" panose="02020603050405020304" pitchFamily="18" charset="0"/>
                <a:cs typeface="Times New Roman" panose="02020603050405020304" pitchFamily="18" charset="0"/>
              </a:rPr>
            </a:br>
            <a:r>
              <a:rPr lang="tr-TR" sz="14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76950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D01D3-C193-DF7C-9663-78988E580E74}"/>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BB40ADB3-4E30-FC28-B1CB-BF82012FC78E}"/>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0DB5FE21-8F45-4371-FC15-51B38A90C8DB}"/>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E496A4B6-836D-44B1-253A-198E6D4CC3C6}"/>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D2A02199-B556-42A1-9E26-B521198E2B92}"/>
              </a:ext>
            </a:extLst>
          </p:cNvPr>
          <p:cNvSpPr>
            <a:spLocks noGrp="1"/>
          </p:cNvSpPr>
          <p:nvPr>
            <p:ph type="ctrTitle"/>
          </p:nvPr>
        </p:nvSpPr>
        <p:spPr>
          <a:xfrm>
            <a:off x="685800" y="2130425"/>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1. GİRİŞ</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085E724-F278-584E-CDFB-7E36BB032B25}"/>
              </a:ext>
            </a:extLst>
          </p:cNvPr>
          <p:cNvSpPr txBox="1"/>
          <p:nvPr/>
        </p:nvSpPr>
        <p:spPr>
          <a:xfrm>
            <a:off x="685800" y="2981636"/>
            <a:ext cx="7956755" cy="3046988"/>
          </a:xfrm>
          <a:prstGeom prst="rect">
            <a:avLst/>
          </a:prstGeom>
          <a:noFill/>
        </p:spPr>
        <p:txBody>
          <a:bodyPr wrap="square" rtlCol="0">
            <a:spAutoFit/>
          </a:bodyPr>
          <a:lstStyle/>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Sağlık sektöründe operasyonel verimlilik, hasta bakım kalitesini doğrudan belirleyen temel bir faktördür.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Hastaneler, 7/24 hizmet veren, talep belirsizliği yüksek ve insan kaynağına bağımlı karmaşık sistemlerdir.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Hemşireler, hastane operasyonlarının sürekliliğini sağlayan en kritik insan kaynağını oluşturmaktadır.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Geleneksel deterministik vardiya planlama modelleri, hasta talebini sabit varsaydığı için gerçek koşulları yeterince yansıtmaz.</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Bu çalışma, hasta talebindeki belirsizliği temsil eden 411 farklı senaryoyu dikkate alan Dayanıklı Tamsayı Programlama yaklaşımını kullanmaktadır.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Önerilen model, en kötü senaryoda dahi hizmet aksamalarını önleyerek hastanelerin beklenmedik yoğunluklara karşı dirençli olmasını hedeflemektedir.</a:t>
            </a:r>
            <a:endParaRPr lang="tr-TR" dirty="0"/>
          </a:p>
        </p:txBody>
      </p:sp>
    </p:spTree>
    <p:extLst>
      <p:ext uri="{BB962C8B-B14F-4D97-AF65-F5344CB8AC3E}">
        <p14:creationId xmlns:p14="http://schemas.microsoft.com/office/powerpoint/2010/main" val="2594273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D0F63-7369-4812-85DF-E115C2C0B9DA}"/>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5FDEB50E-67FE-CF16-813B-0C78CE1557E1}"/>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9C7BC636-11C3-B4D7-5566-40EB07A82294}"/>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2DFAE3BD-5F7E-C55B-A174-10AFCA852734}"/>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8AB1A5FD-DCC2-4518-0721-D146CF772BE3}"/>
              </a:ext>
            </a:extLst>
          </p:cNvPr>
          <p:cNvSpPr>
            <a:spLocks noGrp="1"/>
          </p:cNvSpPr>
          <p:nvPr>
            <p:ph type="ctrTitle"/>
          </p:nvPr>
        </p:nvSpPr>
        <p:spPr>
          <a:xfrm>
            <a:off x="685799" y="1861560"/>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2. LİTERATÜR TARAMASI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346A68A-BD5A-E1F0-1F13-D032D9D5F514}"/>
              </a:ext>
            </a:extLst>
          </p:cNvPr>
          <p:cNvSpPr txBox="1"/>
          <p:nvPr/>
        </p:nvSpPr>
        <p:spPr>
          <a:xfrm>
            <a:off x="685799" y="2562825"/>
            <a:ext cx="7956755" cy="3539430"/>
          </a:xfrm>
          <a:prstGeom prst="rect">
            <a:avLst/>
          </a:prstGeom>
          <a:noFill/>
        </p:spPr>
        <p:txBody>
          <a:bodyPr wrap="square" rtlCol="0">
            <a:spAutoFit/>
          </a:bodyPr>
          <a:lstStyle/>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Hemşire Çizelgeleme Problemi, yöneylem araştırması literatüründe NP-Hard sınıfında yer alan ve kırk yılı aşkın süredir çalışılan zorlu bir optimizasyon problemidir.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Erken dönem çalışmalar, Tamsayı Programlama yöntemleriyle matematiksel optimumu garanti etmiş; ancak problem boyutu ve kısıt karmaşıklığı arttıkça bu yöntemler pratikliğini yitirmiştir.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Bu klasik modellerin temel varsayımı, hasta talebinin deterministik ve sabit olmasıdır; bu yaklaşım gerçek hastane dinamikleriyle örtüşmemektedir.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Hesaplama zorluklarını aşmak amacıyla geliştirilen sezgisel ve meta-sezgisel yöntemler esnek çözümler sunsa da global optimum garantisi verememektedir.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Stokastik Programlama yaklaşımları talep belirsizliğini olasılık dağılımlarıyla modellemiş, ancak yüksek hesaplama yükü ve dağılım belirsizliği gibi sınırlılıklar barındırmıştır.</a:t>
            </a:r>
          </a:p>
          <a:p>
            <a:pPr marL="342900" indent="-342900">
              <a:buFont typeface="Arial" panose="020B0604020202020204" pitchFamily="34" charset="0"/>
              <a:buChar char="•"/>
            </a:pPr>
            <a:r>
              <a:rPr lang="tr-TR" sz="1600" dirty="0" err="1">
                <a:latin typeface="Times New Roman" panose="02020603050405020304" pitchFamily="18" charset="0"/>
                <a:cs typeface="Times New Roman" panose="02020603050405020304" pitchFamily="18" charset="0"/>
              </a:rPr>
              <a:t>Robust</a:t>
            </a:r>
            <a:r>
              <a:rPr lang="tr-TR" sz="1600" dirty="0">
                <a:latin typeface="Times New Roman" panose="02020603050405020304" pitchFamily="18" charset="0"/>
                <a:cs typeface="Times New Roman" panose="02020603050405020304" pitchFamily="18" charset="0"/>
              </a:rPr>
              <a:t> Optimizasyon yaklaşımı, tekil tahminler yerine en kötü senaryoya odaklanan bir yapı sunarak; 411 senaryoyu eşzamanlı değerlendiren </a:t>
            </a:r>
            <a:r>
              <a:rPr lang="tr-TR" sz="1600" dirty="0" err="1">
                <a:latin typeface="Times New Roman" panose="02020603050405020304" pitchFamily="18" charset="0"/>
                <a:cs typeface="Times New Roman" panose="02020603050405020304" pitchFamily="18" charset="0"/>
              </a:rPr>
              <a:t>Robust</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Integer</a:t>
            </a:r>
            <a:r>
              <a:rPr lang="tr-TR" sz="1600" dirty="0">
                <a:latin typeface="Times New Roman" panose="02020603050405020304" pitchFamily="18" charset="0"/>
                <a:cs typeface="Times New Roman" panose="02020603050405020304" pitchFamily="18" charset="0"/>
              </a:rPr>
              <a:t> Programming modelleriyle literatürde dengeli ve dayanıklı bir çözüm çerçevesi ortaya koymuştur.</a:t>
            </a:r>
          </a:p>
        </p:txBody>
      </p:sp>
    </p:spTree>
    <p:extLst>
      <p:ext uri="{BB962C8B-B14F-4D97-AF65-F5344CB8AC3E}">
        <p14:creationId xmlns:p14="http://schemas.microsoft.com/office/powerpoint/2010/main" val="3878938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46013-E521-70C8-EBE9-63E79B3A9EA9}"/>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D12BCBC4-7AD0-32D1-9ABC-E9768247651D}"/>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F62AA268-C9CA-8784-303B-48E1E4D579E9}"/>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E32AC59A-6856-BE0C-3C93-BD3DF0F98982}"/>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1AB6D6B3-752C-42A7-ABED-3D537EEB7821}"/>
              </a:ext>
            </a:extLst>
          </p:cNvPr>
          <p:cNvSpPr>
            <a:spLocks noGrp="1"/>
          </p:cNvSpPr>
          <p:nvPr>
            <p:ph type="ctrTitle"/>
          </p:nvPr>
        </p:nvSpPr>
        <p:spPr>
          <a:xfrm>
            <a:off x="685800" y="1996086"/>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3. PROBLEM TANIMI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6C5C7A9-E767-9511-EA9E-A64C62DC0842}"/>
              </a:ext>
            </a:extLst>
          </p:cNvPr>
          <p:cNvSpPr txBox="1"/>
          <p:nvPr/>
        </p:nvSpPr>
        <p:spPr>
          <a:xfrm>
            <a:off x="685799" y="2847297"/>
            <a:ext cx="7956755" cy="3046988"/>
          </a:xfrm>
          <a:prstGeom prst="rect">
            <a:avLst/>
          </a:prstGeom>
          <a:noFill/>
        </p:spPr>
        <p:txBody>
          <a:bodyPr wrap="square" rtlCol="0">
            <a:spAutoFit/>
          </a:bodyPr>
          <a:lstStyle/>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Çalışma, Belçika’daki büyük ölçekli bir hastanede görev yapan 29 hemşirenin, 7 günlük planlama ufkunda vardiyalara atanmasını ele almaktadır.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Problem, hasta bakım talebinin deterministik olmaması ve zaman içinde öngörülemez biçimde değişmesi nedeniyle yüksek belirsizlik içermektedir.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Bu belirsizlik, 411 farklı talep senaryosundan oluşan kapsamlı bir veri seti ile temsil edilmektedir.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Amaç, yalnızca ortalama talebi karşılamak değil; en kötü senaryo (</a:t>
            </a:r>
            <a:r>
              <a:rPr lang="tr-TR" sz="1600" dirty="0" err="1">
                <a:latin typeface="Times New Roman" panose="02020603050405020304" pitchFamily="18" charset="0"/>
                <a:cs typeface="Times New Roman" panose="02020603050405020304" pitchFamily="18" charset="0"/>
              </a:rPr>
              <a:t>worst-case</a:t>
            </a:r>
            <a:r>
              <a:rPr lang="tr-TR" sz="1600" dirty="0">
                <a:latin typeface="Times New Roman" panose="02020603050405020304" pitchFamily="18" charset="0"/>
                <a:cs typeface="Times New Roman" panose="02020603050405020304" pitchFamily="18" charset="0"/>
              </a:rPr>
              <a:t>) gerçekleşse dahi hizmet kalitesinin korunmasını sağlayan dayanıklı bir çizelge üretmektir.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Model, hemşirelerin yasal çalışma saatleri, minimum dinlenme süreleri ve yetkinlik kısıtlarını eksiksiz biçimde dikkate almaktadır.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Aynı zamanda, iş yükü dengesini sağlayarak tükenmişlik riskini azaltmayı ve hastane kaynaklarının maliyet etkin kullanımını hedeflemektedir.</a:t>
            </a:r>
          </a:p>
        </p:txBody>
      </p:sp>
    </p:spTree>
    <p:extLst>
      <p:ext uri="{BB962C8B-B14F-4D97-AF65-F5344CB8AC3E}">
        <p14:creationId xmlns:p14="http://schemas.microsoft.com/office/powerpoint/2010/main" val="4235227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51D10-36CA-360D-57C1-D3017C2323E0}"/>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45D188AE-24C6-8587-F3E5-F763B0426198}"/>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D125AFC9-0E39-B23B-4F12-A5273897E47F}"/>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95ED0954-908D-5CB6-F466-CA8A80306660}"/>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EE21005B-2798-4CC2-2105-E3E69AE99200}"/>
              </a:ext>
            </a:extLst>
          </p:cNvPr>
          <p:cNvSpPr>
            <a:spLocks noGrp="1"/>
          </p:cNvSpPr>
          <p:nvPr>
            <p:ph type="ctrTitle"/>
          </p:nvPr>
        </p:nvSpPr>
        <p:spPr>
          <a:xfrm>
            <a:off x="685800" y="1705957"/>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4. MODEL TANITIMI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8DEFA3C-00AB-6166-AF80-64E030E9A4FE}"/>
              </a:ext>
            </a:extLst>
          </p:cNvPr>
          <p:cNvSpPr txBox="1"/>
          <p:nvPr/>
        </p:nvSpPr>
        <p:spPr>
          <a:xfrm>
            <a:off x="685799" y="2305736"/>
            <a:ext cx="8236973" cy="1077218"/>
          </a:xfrm>
          <a:prstGeom prst="rect">
            <a:avLst/>
          </a:prstGeom>
          <a:noFill/>
        </p:spPr>
        <p:txBody>
          <a:bodyPr wrap="square" rtlCol="0">
            <a:spAutoFit/>
          </a:bodyPr>
          <a:lstStyle/>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Veri seti, gerçek hastane kayıtlarına dayalı 1000 problem örneğinden türetilmiş 411 aktif talep senaryosunu içermektedir.</a:t>
            </a:r>
          </a:p>
          <a:p>
            <a:pPr marL="342900" indent="-342900">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Senaryolar, gün ve vardiya bazında hasta bakım talebini temsil edecek şekilde Excel ortamında yapılandırılmış ham veri formatında sunulmuştur.</a:t>
            </a:r>
          </a:p>
        </p:txBody>
      </p:sp>
      <p:graphicFrame>
        <p:nvGraphicFramePr>
          <p:cNvPr id="2" name="Table 1">
            <a:extLst>
              <a:ext uri="{FF2B5EF4-FFF2-40B4-BE49-F238E27FC236}">
                <a16:creationId xmlns:a16="http://schemas.microsoft.com/office/drawing/2014/main" id="{E643E525-E6BC-925D-EEDF-B44DAA5C783E}"/>
              </a:ext>
            </a:extLst>
          </p:cNvPr>
          <p:cNvGraphicFramePr>
            <a:graphicFrameLocks noGrp="1"/>
          </p:cNvGraphicFramePr>
          <p:nvPr>
            <p:extLst>
              <p:ext uri="{D42A27DB-BD31-4B8C-83A1-F6EECF244321}">
                <p14:modId xmlns:p14="http://schemas.microsoft.com/office/powerpoint/2010/main" val="2036487672"/>
              </p:ext>
            </p:extLst>
          </p:nvPr>
        </p:nvGraphicFramePr>
        <p:xfrm>
          <a:off x="829994" y="3982733"/>
          <a:ext cx="7886305" cy="2479485"/>
        </p:xfrm>
        <a:graphic>
          <a:graphicData uri="http://schemas.openxmlformats.org/drawingml/2006/table">
            <a:tbl>
              <a:tblPr firstRow="1" firstCol="1" bandRow="1">
                <a:tableStyleId>{5C22544A-7EE6-4342-B048-85BDC9FD1C3A}</a:tableStyleId>
              </a:tblPr>
              <a:tblGrid>
                <a:gridCol w="1126615">
                  <a:extLst>
                    <a:ext uri="{9D8B030D-6E8A-4147-A177-3AD203B41FA5}">
                      <a16:colId xmlns:a16="http://schemas.microsoft.com/office/drawing/2014/main" val="3258382733"/>
                    </a:ext>
                  </a:extLst>
                </a:gridCol>
                <a:gridCol w="1126615">
                  <a:extLst>
                    <a:ext uri="{9D8B030D-6E8A-4147-A177-3AD203B41FA5}">
                      <a16:colId xmlns:a16="http://schemas.microsoft.com/office/drawing/2014/main" val="602550986"/>
                    </a:ext>
                  </a:extLst>
                </a:gridCol>
                <a:gridCol w="1126615">
                  <a:extLst>
                    <a:ext uri="{9D8B030D-6E8A-4147-A177-3AD203B41FA5}">
                      <a16:colId xmlns:a16="http://schemas.microsoft.com/office/drawing/2014/main" val="1745222498"/>
                    </a:ext>
                  </a:extLst>
                </a:gridCol>
                <a:gridCol w="1126615">
                  <a:extLst>
                    <a:ext uri="{9D8B030D-6E8A-4147-A177-3AD203B41FA5}">
                      <a16:colId xmlns:a16="http://schemas.microsoft.com/office/drawing/2014/main" val="2937673707"/>
                    </a:ext>
                  </a:extLst>
                </a:gridCol>
                <a:gridCol w="1126615">
                  <a:extLst>
                    <a:ext uri="{9D8B030D-6E8A-4147-A177-3AD203B41FA5}">
                      <a16:colId xmlns:a16="http://schemas.microsoft.com/office/drawing/2014/main" val="4203602485"/>
                    </a:ext>
                  </a:extLst>
                </a:gridCol>
                <a:gridCol w="1126615">
                  <a:extLst>
                    <a:ext uri="{9D8B030D-6E8A-4147-A177-3AD203B41FA5}">
                      <a16:colId xmlns:a16="http://schemas.microsoft.com/office/drawing/2014/main" val="395576862"/>
                    </a:ext>
                  </a:extLst>
                </a:gridCol>
                <a:gridCol w="1126615">
                  <a:extLst>
                    <a:ext uri="{9D8B030D-6E8A-4147-A177-3AD203B41FA5}">
                      <a16:colId xmlns:a16="http://schemas.microsoft.com/office/drawing/2014/main" val="1460536370"/>
                    </a:ext>
                  </a:extLst>
                </a:gridCol>
              </a:tblGrid>
              <a:tr h="680987">
                <a:tc>
                  <a:txBody>
                    <a:bodyPr/>
                    <a:lstStyle/>
                    <a:p>
                      <a:pPr marL="0" marR="0" algn="ctr">
                        <a:lnSpc>
                          <a:spcPct val="115000"/>
                        </a:lnSpc>
                        <a:spcAft>
                          <a:spcPts val="0"/>
                        </a:spcAft>
                        <a:buNone/>
                      </a:pPr>
                      <a:r>
                        <a:rPr lang="tr-TR" sz="1400" kern="0" dirty="0">
                          <a:effectLst/>
                        </a:rPr>
                        <a:t>ID</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Hemşire Sayısı</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Planlama Ufku</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Vardiya Tipleri</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Toplam Senaryo (Vaka)</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Hedef Kapasite (dk/saat)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Kısıtlar</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98512254"/>
                  </a:ext>
                </a:extLst>
              </a:tr>
              <a:tr h="680987">
                <a:tc>
                  <a:txBody>
                    <a:bodyPr/>
                    <a:lstStyle/>
                    <a:p>
                      <a:pPr marL="0" marR="0" algn="ctr">
                        <a:lnSpc>
                          <a:spcPct val="115000"/>
                        </a:lnSpc>
                        <a:spcAft>
                          <a:spcPts val="0"/>
                        </a:spcAft>
                        <a:buNone/>
                      </a:pPr>
                      <a:r>
                        <a:rPr lang="tr-TR" sz="1400" kern="0">
                          <a:effectLst/>
                        </a:rPr>
                        <a:t>P-01</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29</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7 Gün</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Sabah (S), Akşam (A), Gece (G)</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411</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Standart Bakım Süresi</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err="1">
                          <a:effectLst/>
                        </a:rPr>
                        <a:t>Max</a:t>
                      </a:r>
                      <a:r>
                        <a:rPr lang="tr-TR" sz="1400" kern="0" dirty="0">
                          <a:effectLst/>
                        </a:rPr>
                        <a:t> 1 Vardiya/Gün</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8067392"/>
                  </a:ext>
                </a:extLst>
              </a:tr>
              <a:tr h="457525">
                <a:tc>
                  <a:txBody>
                    <a:bodyPr/>
                    <a:lstStyle/>
                    <a:p>
                      <a:pPr marL="0" marR="0" algn="ctr">
                        <a:lnSpc>
                          <a:spcPct val="115000"/>
                        </a:lnSpc>
                        <a:spcAft>
                          <a:spcPts val="0"/>
                        </a:spcAft>
                        <a:buNone/>
                      </a:pPr>
                      <a:r>
                        <a:rPr lang="tr-TR" sz="1400" kern="0">
                          <a:effectLst/>
                        </a:rPr>
                        <a:t>Detay</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H1 – H29</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Pzt- Paz</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İzin (-) Dahil</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Talep varyasyonları</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Değişken İş Yükü</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err="1">
                          <a:effectLst/>
                        </a:rPr>
                        <a:t>Max</a:t>
                      </a:r>
                      <a:r>
                        <a:rPr lang="tr-TR" sz="1400" kern="0" dirty="0">
                          <a:effectLst/>
                        </a:rPr>
                        <a:t> 5 Gün/Hafta</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46221394"/>
                  </a:ext>
                </a:extLst>
              </a:tr>
              <a:tr h="457525">
                <a:tc>
                  <a:txBody>
                    <a:bodyPr/>
                    <a:lstStyle/>
                    <a:p>
                      <a:pPr marL="0" marR="0" algn="ctr">
                        <a:lnSpc>
                          <a:spcPct val="115000"/>
                        </a:lnSpc>
                        <a:spcAft>
                          <a:spcPts val="0"/>
                        </a:spcAft>
                        <a:buNone/>
                      </a:pPr>
                      <a:r>
                        <a:rPr lang="tr-TR" sz="1400" kern="0">
                          <a:effectLst/>
                        </a:rPr>
                        <a:t>Kapsam</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Servis Katı</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Haftalık</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3 Vardiya Sistemi</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a:effectLst/>
                        </a:rPr>
                        <a:t>Stokastik Veri</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a:effectLst/>
                        </a:rPr>
                        <a:t>Dinamik</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0"/>
                        </a:spcAft>
                        <a:buNone/>
                      </a:pPr>
                      <a:r>
                        <a:rPr lang="tr-TR" sz="1400" kern="0" dirty="0" err="1">
                          <a:effectLst/>
                        </a:rPr>
                        <a:t>Min</a:t>
                      </a:r>
                      <a:r>
                        <a:rPr lang="tr-TR" sz="1400" kern="0" dirty="0">
                          <a:effectLst/>
                        </a:rPr>
                        <a:t> 12s Dinlenme</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71147690"/>
                  </a:ext>
                </a:extLst>
              </a:tr>
            </a:tbl>
          </a:graphicData>
        </a:graphic>
      </p:graphicFrame>
      <p:sp>
        <p:nvSpPr>
          <p:cNvPr id="8" name="TextBox 7">
            <a:extLst>
              <a:ext uri="{FF2B5EF4-FFF2-40B4-BE49-F238E27FC236}">
                <a16:creationId xmlns:a16="http://schemas.microsoft.com/office/drawing/2014/main" id="{89294AD9-D73F-F356-A1C9-E10F2729E636}"/>
              </a:ext>
            </a:extLst>
          </p:cNvPr>
          <p:cNvSpPr txBox="1"/>
          <p:nvPr/>
        </p:nvSpPr>
        <p:spPr>
          <a:xfrm>
            <a:off x="3226208" y="3486702"/>
            <a:ext cx="3156154" cy="338554"/>
          </a:xfrm>
          <a:prstGeom prst="rect">
            <a:avLst/>
          </a:prstGeom>
          <a:noFill/>
        </p:spPr>
        <p:txBody>
          <a:bodyPr wrap="square" rtlCol="0">
            <a:spAutoFit/>
          </a:bodyPr>
          <a:lstStyle/>
          <a:p>
            <a:r>
              <a:rPr lang="tr-TR" sz="1600" b="1" dirty="0"/>
              <a:t>Genel Veri Seti Parametreleri</a:t>
            </a:r>
          </a:p>
        </p:txBody>
      </p:sp>
    </p:spTree>
    <p:extLst>
      <p:ext uri="{BB962C8B-B14F-4D97-AF65-F5344CB8AC3E}">
        <p14:creationId xmlns:p14="http://schemas.microsoft.com/office/powerpoint/2010/main" val="3090249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78684-E2D6-EC09-4735-C284EC0A765F}"/>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E2E70D6C-AE37-6F0C-4028-DDC1ED20BC54}"/>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7A48B818-C953-BD31-741B-37F3878996D0}"/>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AECE4B09-0A83-6EEF-5A35-DE1EAC9D16D9}"/>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B3CCD31F-3C7D-B17D-44C9-C117BFC42658}"/>
              </a:ext>
            </a:extLst>
          </p:cNvPr>
          <p:cNvSpPr>
            <a:spLocks noGrp="1"/>
          </p:cNvSpPr>
          <p:nvPr>
            <p:ph type="ctrTitle"/>
          </p:nvPr>
        </p:nvSpPr>
        <p:spPr>
          <a:xfrm>
            <a:off x="685799" y="1834310"/>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4. VERİ SETİ TANITIMI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0BF234A-D774-57D0-9ADD-CBAD9B821E1F}"/>
              </a:ext>
            </a:extLst>
          </p:cNvPr>
          <p:cNvSpPr txBox="1"/>
          <p:nvPr/>
        </p:nvSpPr>
        <p:spPr>
          <a:xfrm>
            <a:off x="685799" y="2392915"/>
            <a:ext cx="8030499" cy="1169551"/>
          </a:xfrm>
          <a:prstGeom prst="rect">
            <a:avLst/>
          </a:prstGeom>
          <a:noFill/>
        </p:spPr>
        <p:txBody>
          <a:bodyPr wrap="square" rtlCol="0">
            <a:spAutoFit/>
          </a:bodyPr>
          <a:lstStyle/>
          <a:p>
            <a:pPr algn="just"/>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 tablo, modelin beslendiği 411 senaryonun ham veri yapısını temsil etmektedir. Her satır bir senaryoyu, sütunlar ise o senaryodaki hasta bakım talebini (hemşire saati cinsinden) ifade eder.</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tr-TR" sz="1600"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58C7F12-E84D-A053-662E-45FE8133FEF0}"/>
              </a:ext>
            </a:extLst>
          </p:cNvPr>
          <p:cNvGraphicFramePr>
            <a:graphicFrameLocks noGrp="1"/>
          </p:cNvGraphicFramePr>
          <p:nvPr>
            <p:extLst>
              <p:ext uri="{D42A27DB-BD31-4B8C-83A1-F6EECF244321}">
                <p14:modId xmlns:p14="http://schemas.microsoft.com/office/powerpoint/2010/main" val="3141505227"/>
              </p:ext>
            </p:extLst>
          </p:nvPr>
        </p:nvGraphicFramePr>
        <p:xfrm>
          <a:off x="829991" y="3912685"/>
          <a:ext cx="7628208" cy="2458806"/>
        </p:xfrm>
        <a:graphic>
          <a:graphicData uri="http://schemas.openxmlformats.org/drawingml/2006/table">
            <a:tbl>
              <a:tblPr firstRow="1" firstCol="1" bandRow="1">
                <a:tableStyleId>{5C22544A-7EE6-4342-B048-85BDC9FD1C3A}</a:tableStyleId>
              </a:tblPr>
              <a:tblGrid>
                <a:gridCol w="1089744">
                  <a:extLst>
                    <a:ext uri="{9D8B030D-6E8A-4147-A177-3AD203B41FA5}">
                      <a16:colId xmlns:a16="http://schemas.microsoft.com/office/drawing/2014/main" val="3662717841"/>
                    </a:ext>
                  </a:extLst>
                </a:gridCol>
                <a:gridCol w="1089744">
                  <a:extLst>
                    <a:ext uri="{9D8B030D-6E8A-4147-A177-3AD203B41FA5}">
                      <a16:colId xmlns:a16="http://schemas.microsoft.com/office/drawing/2014/main" val="879426670"/>
                    </a:ext>
                  </a:extLst>
                </a:gridCol>
                <a:gridCol w="1089744">
                  <a:extLst>
                    <a:ext uri="{9D8B030D-6E8A-4147-A177-3AD203B41FA5}">
                      <a16:colId xmlns:a16="http://schemas.microsoft.com/office/drawing/2014/main" val="2784272631"/>
                    </a:ext>
                  </a:extLst>
                </a:gridCol>
                <a:gridCol w="1089744">
                  <a:extLst>
                    <a:ext uri="{9D8B030D-6E8A-4147-A177-3AD203B41FA5}">
                      <a16:colId xmlns:a16="http://schemas.microsoft.com/office/drawing/2014/main" val="3984946833"/>
                    </a:ext>
                  </a:extLst>
                </a:gridCol>
                <a:gridCol w="1089744">
                  <a:extLst>
                    <a:ext uri="{9D8B030D-6E8A-4147-A177-3AD203B41FA5}">
                      <a16:colId xmlns:a16="http://schemas.microsoft.com/office/drawing/2014/main" val="3508045679"/>
                    </a:ext>
                  </a:extLst>
                </a:gridCol>
                <a:gridCol w="1089744">
                  <a:extLst>
                    <a:ext uri="{9D8B030D-6E8A-4147-A177-3AD203B41FA5}">
                      <a16:colId xmlns:a16="http://schemas.microsoft.com/office/drawing/2014/main" val="1672351574"/>
                    </a:ext>
                  </a:extLst>
                </a:gridCol>
                <a:gridCol w="1089744">
                  <a:extLst>
                    <a:ext uri="{9D8B030D-6E8A-4147-A177-3AD203B41FA5}">
                      <a16:colId xmlns:a16="http://schemas.microsoft.com/office/drawing/2014/main" val="1555212859"/>
                    </a:ext>
                  </a:extLst>
                </a:gridCol>
              </a:tblGrid>
              <a:tr h="351258">
                <a:tc>
                  <a:txBody>
                    <a:bodyPr/>
                    <a:lstStyle/>
                    <a:p>
                      <a:pPr marL="0" marR="0" algn="ctr">
                        <a:lnSpc>
                          <a:spcPct val="115000"/>
                        </a:lnSpc>
                        <a:spcAft>
                          <a:spcPts val="800"/>
                        </a:spcAft>
                        <a:buNone/>
                      </a:pPr>
                      <a:r>
                        <a:rPr lang="tr-TR" sz="1400" kern="0" dirty="0" err="1">
                          <a:effectLst/>
                        </a:rPr>
                        <a:t>Senaryo_ID</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Gün1_Sabah</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Gün1_Akşam</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Gün1_Gece</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Gün2_Sabah</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Gün7_Gece</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83854003"/>
                  </a:ext>
                </a:extLst>
              </a:tr>
              <a:tr h="351258">
                <a:tc>
                  <a:txBody>
                    <a:bodyPr/>
                    <a:lstStyle/>
                    <a:p>
                      <a:pPr marL="0" marR="0" algn="ctr">
                        <a:lnSpc>
                          <a:spcPct val="115000"/>
                        </a:lnSpc>
                        <a:spcAft>
                          <a:spcPts val="800"/>
                        </a:spcAft>
                        <a:buNone/>
                      </a:pPr>
                      <a:r>
                        <a:rPr lang="tr-TR" sz="1400" kern="0">
                          <a:effectLst/>
                        </a:rPr>
                        <a:t>S-001</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4.5</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3.0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2.0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5.0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2.0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34741324"/>
                  </a:ext>
                </a:extLst>
              </a:tr>
              <a:tr h="351258">
                <a:tc>
                  <a:txBody>
                    <a:bodyPr/>
                    <a:lstStyle/>
                    <a:p>
                      <a:pPr marL="0" marR="0" algn="ctr">
                        <a:lnSpc>
                          <a:spcPct val="115000"/>
                        </a:lnSpc>
                        <a:spcAft>
                          <a:spcPts val="800"/>
                        </a:spcAft>
                        <a:buNone/>
                      </a:pPr>
                      <a:r>
                        <a:rPr lang="tr-TR" sz="1400" kern="0">
                          <a:effectLst/>
                        </a:rPr>
                        <a:t>S-002</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3.0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4.0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2.0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4.5</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1.5</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78707553"/>
                  </a:ext>
                </a:extLst>
              </a:tr>
              <a:tr h="351258">
                <a:tc>
                  <a:txBody>
                    <a:bodyPr/>
                    <a:lstStyle/>
                    <a:p>
                      <a:pPr marL="0" marR="0" algn="ctr">
                        <a:lnSpc>
                          <a:spcPct val="115000"/>
                        </a:lnSpc>
                        <a:spcAft>
                          <a:spcPts val="800"/>
                        </a:spcAft>
                        <a:buNone/>
                      </a:pPr>
                      <a:r>
                        <a:rPr lang="tr-TR" sz="1400" kern="0">
                          <a:effectLst/>
                        </a:rPr>
                        <a:t>S-003</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6.0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dirty="0">
                          <a:effectLst/>
                        </a:rPr>
                        <a:t>3.5</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2.5</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5.5</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3.0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50230196"/>
                  </a:ext>
                </a:extLst>
              </a:tr>
              <a:tr h="351258">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42644376"/>
                  </a:ext>
                </a:extLst>
              </a:tr>
              <a:tr h="351258">
                <a:tc>
                  <a:txBody>
                    <a:bodyPr/>
                    <a:lstStyle/>
                    <a:p>
                      <a:pPr marL="0" marR="0" algn="ctr">
                        <a:lnSpc>
                          <a:spcPct val="115000"/>
                        </a:lnSpc>
                        <a:spcAft>
                          <a:spcPts val="800"/>
                        </a:spcAft>
                        <a:buNone/>
                      </a:pPr>
                      <a:r>
                        <a:rPr lang="tr-TR" sz="1400" kern="0">
                          <a:effectLst/>
                        </a:rPr>
                        <a:t>S-411</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5.0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4.0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2.0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6.0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2.5</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14309932"/>
                  </a:ext>
                </a:extLst>
              </a:tr>
              <a:tr h="351258">
                <a:tc>
                  <a:txBody>
                    <a:bodyPr/>
                    <a:lstStyle/>
                    <a:p>
                      <a:pPr marL="0" marR="0" algn="ctr">
                        <a:lnSpc>
                          <a:spcPct val="115000"/>
                        </a:lnSpc>
                        <a:spcAft>
                          <a:spcPts val="800"/>
                        </a:spcAft>
                        <a:buNone/>
                      </a:pPr>
                      <a:r>
                        <a:rPr lang="tr-TR" sz="1400" kern="0">
                          <a:effectLst/>
                        </a:rPr>
                        <a:t>WORST-CASE</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6.0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4.0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2.5</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6.0</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a:effectLst/>
                        </a:rPr>
                        <a:t>...</a:t>
                      </a:r>
                      <a:endParaRPr lang="tr-TR"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tr-TR" sz="1400" kern="0" dirty="0">
                          <a:effectLst/>
                        </a:rPr>
                        <a:t>3.0</a:t>
                      </a:r>
                      <a:endParaRPr lang="tr-TR"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40049133"/>
                  </a:ext>
                </a:extLst>
              </a:tr>
            </a:tbl>
          </a:graphicData>
        </a:graphic>
      </p:graphicFrame>
      <p:sp>
        <p:nvSpPr>
          <p:cNvPr id="9" name="TextBox 8">
            <a:extLst>
              <a:ext uri="{FF2B5EF4-FFF2-40B4-BE49-F238E27FC236}">
                <a16:creationId xmlns:a16="http://schemas.microsoft.com/office/drawing/2014/main" id="{E13D930D-B3FB-6015-CAEB-ED96EBE31848}"/>
              </a:ext>
            </a:extLst>
          </p:cNvPr>
          <p:cNvSpPr txBox="1"/>
          <p:nvPr/>
        </p:nvSpPr>
        <p:spPr>
          <a:xfrm>
            <a:off x="3436286" y="3377800"/>
            <a:ext cx="1592826" cy="369332"/>
          </a:xfrm>
          <a:prstGeom prst="rect">
            <a:avLst/>
          </a:prstGeom>
          <a:noFill/>
        </p:spPr>
        <p:txBody>
          <a:bodyPr wrap="square" rtlCol="0">
            <a:spAutoFit/>
          </a:bodyPr>
          <a:lstStyle/>
          <a:p>
            <a:r>
              <a:rPr lang="tr-TR" b="1" dirty="0"/>
              <a:t>Ham Veri Seti</a:t>
            </a:r>
          </a:p>
        </p:txBody>
      </p:sp>
    </p:spTree>
    <p:extLst>
      <p:ext uri="{BB962C8B-B14F-4D97-AF65-F5344CB8AC3E}">
        <p14:creationId xmlns:p14="http://schemas.microsoft.com/office/powerpoint/2010/main" val="2872195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C7719-7442-0D0B-0DF9-575DAAF90165}"/>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99098AC1-61D6-CD7C-44B9-F418D87467C1}"/>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5ADC3C71-72D9-0C9C-87FA-AA287F4FFC21}"/>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A68F4185-3FA0-2F10-99EC-A0DD2A9E65A8}"/>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71643E53-4C58-6184-E1DC-3B0BA98696A0}"/>
              </a:ext>
            </a:extLst>
          </p:cNvPr>
          <p:cNvSpPr>
            <a:spLocks noGrp="1"/>
          </p:cNvSpPr>
          <p:nvPr>
            <p:ph type="ctrTitle"/>
          </p:nvPr>
        </p:nvSpPr>
        <p:spPr>
          <a:xfrm>
            <a:off x="685800" y="2130425"/>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4.1 KARAR DEĞİŞKENLERİ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50506EB-B2C7-9E13-1AB8-D59F299EDEF3}"/>
              </a:ext>
            </a:extLst>
          </p:cNvPr>
          <p:cNvSpPr txBox="1"/>
          <p:nvPr/>
        </p:nvSpPr>
        <p:spPr>
          <a:xfrm>
            <a:off x="685800" y="2981636"/>
            <a:ext cx="7956755" cy="1817934"/>
          </a:xfrm>
          <a:prstGeom prst="rect">
            <a:avLst/>
          </a:prstGeom>
          <a:noFill/>
        </p:spPr>
        <p:txBody>
          <a:bodyPr wrap="square" rtlCol="0">
            <a:spAutoFit/>
          </a:bodyPr>
          <a:lstStyle/>
          <a:p>
            <a:pPr marL="342900" marR="0" lvl="0" indent="-342900">
              <a:lnSpc>
                <a:spcPct val="115000"/>
              </a:lnSpc>
              <a:spcAft>
                <a:spcPts val="800"/>
              </a:spcAft>
              <a:buSzPts val="1000"/>
              <a:buFont typeface="Symbol" panose="05050102010706020507" pitchFamily="18" charset="2"/>
              <a:buChar char=""/>
              <a:tabLst>
                <a:tab pos="457200" algn="l"/>
              </a:tabLst>
            </a:pP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 (</a:t>
            </a:r>
            <a:r>
              <a:rPr lang="tr-TR" sz="1800" b="1"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i,j,k</a:t>
            </a: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Eğer Hemşire </a:t>
            </a: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gününde, </a:t>
            </a: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vardiyasına atanırsa 1, aksi halde 0 (</a:t>
            </a:r>
            <a:r>
              <a:rPr lang="tr-TR" sz="18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Binary</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Değişken).</a:t>
            </a:r>
            <a:endParaRPr lang="tr-TR" sz="18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y(</a:t>
            </a:r>
            <a:r>
              <a:rPr lang="tr-TR" sz="1800" b="1"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j,k</a:t>
            </a: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günü </a:t>
            </a:r>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vardiyasındaki toplam atanan hemşire sayısı (</a:t>
            </a:r>
            <a:r>
              <a:rPr lang="tr-TR" sz="18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Integer</a:t>
            </a: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/Tamsayı Değişken).</a:t>
            </a:r>
            <a:endParaRPr lang="tr-TR" sz="18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endParaRPr lang="tr-T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0301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FC8F1-3511-F885-8F3B-8CEA3260A88C}"/>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5BC3C36F-6E9C-9FD5-4A8D-E374E8975EA9}"/>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67D5EF14-3304-F56C-4BB5-7C8725648CEA}"/>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0B439C86-6011-8547-620A-C9DFCC408050}"/>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4BDF565B-14AD-CEAD-D30E-528D6E005AE5}"/>
              </a:ext>
            </a:extLst>
          </p:cNvPr>
          <p:cNvSpPr>
            <a:spLocks noGrp="1"/>
          </p:cNvSpPr>
          <p:nvPr>
            <p:ph type="ctrTitle"/>
          </p:nvPr>
        </p:nvSpPr>
        <p:spPr>
          <a:xfrm>
            <a:off x="685800" y="1996086"/>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4.2 AMAÇ FONKSİYONU</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E61DBB-9CDE-E573-702B-FBE95CBB4BFD}"/>
              </a:ext>
            </a:extLst>
          </p:cNvPr>
          <p:cNvSpPr txBox="1"/>
          <p:nvPr/>
        </p:nvSpPr>
        <p:spPr>
          <a:xfrm>
            <a:off x="685799" y="2697351"/>
            <a:ext cx="7956755" cy="1078244"/>
          </a:xfrm>
          <a:prstGeom prst="rect">
            <a:avLst/>
          </a:prstGeom>
          <a:noFill/>
        </p:spPr>
        <p:txBody>
          <a:bodyPr wrap="square" rtlCol="0">
            <a:spAutoFit/>
          </a:bodyPr>
          <a:lstStyle/>
          <a:p>
            <a:pPr marL="342900" marR="0" lvl="0" indent="-342900" algn="just">
              <a:lnSpc>
                <a:spcPct val="115000"/>
              </a:lnSpc>
              <a:spcAft>
                <a:spcPts val="800"/>
              </a:spcAft>
              <a:buSzPts val="1000"/>
              <a:buFont typeface="Symbol" panose="05050102010706020507" pitchFamily="18" charset="2"/>
              <a:buChar char=""/>
              <a:tabLst>
                <a:tab pos="457200" algn="l"/>
              </a:tabLst>
            </a:pPr>
            <a:r>
              <a:rPr lang="tr-TR" sz="18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Modelin amacı, en kötü senaryodaki (</a:t>
            </a:r>
            <a:r>
              <a:rPr lang="tr-TR" sz="1800" kern="0" dirty="0" err="1">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worst-case</a:t>
            </a:r>
            <a:r>
              <a:rPr lang="tr-TR" sz="18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maliyeti veya karşılanamayan talebi minimize etmektir.</a:t>
            </a:r>
          </a:p>
          <a:p>
            <a:endParaRPr lang="tr-TR" sz="1600" dirty="0">
              <a:latin typeface="Times New Roman" panose="02020603050405020304" pitchFamily="18" charset="0"/>
              <a:cs typeface="Times New Roman" panose="02020603050405020304" pitchFamily="18" charset="0"/>
            </a:endParaRPr>
          </a:p>
        </p:txBody>
      </p:sp>
      <p:pic>
        <p:nvPicPr>
          <p:cNvPr id="2" name="Resim 1">
            <a:extLst>
              <a:ext uri="{FF2B5EF4-FFF2-40B4-BE49-F238E27FC236}">
                <a16:creationId xmlns:a16="http://schemas.microsoft.com/office/drawing/2014/main" id="{8DD870E3-0241-3602-F4D9-F289A941F2F4}"/>
              </a:ext>
            </a:extLst>
          </p:cNvPr>
          <p:cNvPicPr>
            <a:picLocks noChangeAspect="1"/>
          </p:cNvPicPr>
          <p:nvPr/>
        </p:nvPicPr>
        <p:blipFill>
          <a:blip r:embed="rId3"/>
          <a:srcRect l="2569" r="4871"/>
          <a:stretch>
            <a:fillRect/>
          </a:stretch>
        </p:blipFill>
        <p:spPr>
          <a:xfrm>
            <a:off x="1092819" y="3682901"/>
            <a:ext cx="6512313" cy="2095500"/>
          </a:xfrm>
          <a:prstGeom prst="rect">
            <a:avLst/>
          </a:prstGeom>
        </p:spPr>
      </p:pic>
    </p:spTree>
    <p:extLst>
      <p:ext uri="{BB962C8B-B14F-4D97-AF65-F5344CB8AC3E}">
        <p14:creationId xmlns:p14="http://schemas.microsoft.com/office/powerpoint/2010/main" val="903290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BE8B-FDD9-9B55-C2E1-3F63EDC4F370}"/>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BC6B6A0C-90D5-4ED8-C745-C20AD6AABAB9}"/>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939AA79B-FA62-433B-6892-38932D856878}"/>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C75858AF-4C0C-C9AD-C616-C90CE406A38A}"/>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469B94D7-CBC2-573A-BAD9-5873F8787D69}"/>
              </a:ext>
            </a:extLst>
          </p:cNvPr>
          <p:cNvSpPr>
            <a:spLocks noGrp="1"/>
          </p:cNvSpPr>
          <p:nvPr>
            <p:ph type="ctrTitle"/>
          </p:nvPr>
        </p:nvSpPr>
        <p:spPr>
          <a:xfrm>
            <a:off x="685800" y="2130425"/>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4.3 KISITLAR</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947B227-B184-7E93-91C8-C4A31A6C2164}"/>
              </a:ext>
            </a:extLst>
          </p:cNvPr>
          <p:cNvSpPr txBox="1"/>
          <p:nvPr/>
        </p:nvSpPr>
        <p:spPr>
          <a:xfrm>
            <a:off x="685800" y="2981636"/>
            <a:ext cx="7956755" cy="2978764"/>
          </a:xfrm>
          <a:prstGeom prst="rect">
            <a:avLst/>
          </a:prstGeom>
          <a:noFill/>
        </p:spPr>
        <p:txBody>
          <a:bodyPr wrap="square" rtlCol="0">
            <a:spAutoFit/>
          </a:bodyPr>
          <a:lstStyle/>
          <a:p>
            <a:pPr marR="0" lvl="0" algn="just">
              <a:lnSpc>
                <a:spcPct val="115000"/>
              </a:lnSpc>
              <a:spcAft>
                <a:spcPts val="800"/>
              </a:spcAft>
              <a:buSzPts val="1000"/>
              <a:tabLst>
                <a:tab pos="457200" algn="l"/>
              </a:tabLst>
            </a:pP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1.	Tek Vardiya Kısıtı: Bir hemşire günde en fazla bir vardiyada çalışabilir.</a:t>
            </a:r>
          </a:p>
          <a:p>
            <a:pPr marR="0" lvl="0" algn="just">
              <a:lnSpc>
                <a:spcPct val="115000"/>
              </a:lnSpc>
              <a:spcAft>
                <a:spcPts val="800"/>
              </a:spcAft>
              <a:buSzPts val="1000"/>
              <a:tabLst>
                <a:tab pos="457200" algn="l"/>
              </a:tabLst>
            </a:pP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2.	Dinlenme Kısıtı: Gece vardiyasından sonraki gün sabah vardiyası yazılamaz  (veya en az 12 saat dinlenme).</a:t>
            </a:r>
          </a:p>
          <a:p>
            <a:pPr marR="0" lvl="0" algn="just">
              <a:lnSpc>
                <a:spcPct val="115000"/>
              </a:lnSpc>
              <a:spcAft>
                <a:spcPts val="800"/>
              </a:spcAft>
              <a:buSzPts val="1000"/>
              <a:tabLst>
                <a:tab pos="457200" algn="l"/>
              </a:tabLst>
            </a:pP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3.	Haftalık Yük Kısıtı: Bir hemşire haftada en fazla 5 gün çalışabilir (Örneğin </a:t>
            </a:r>
            <a:r>
              <a:rPr lang="tr-T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snippet'teki</a:t>
            </a: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 optimal tabloda herkes 5 gün çalışmış).</a:t>
            </a:r>
          </a:p>
          <a:p>
            <a:pPr marR="0" lvl="0" algn="just">
              <a:lnSpc>
                <a:spcPct val="115000"/>
              </a:lnSpc>
              <a:spcAft>
                <a:spcPts val="800"/>
              </a:spcAft>
              <a:buSzPts val="1000"/>
              <a:tabLst>
                <a:tab pos="457200" algn="l"/>
              </a:tabLst>
            </a:pP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4.	Talep Kapsama (</a:t>
            </a:r>
            <a:r>
              <a:rPr lang="tr-T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Robust</a:t>
            </a: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 Kısıt): Atanan toplam hemşire kapasitesi, 411 senaryonun her biri için oluşan talebi (belirli bir güven aralığında) karşılamalıdır.</a:t>
            </a:r>
          </a:p>
          <a:p>
            <a:endParaRPr lang="tr-T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718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E964-86DA-0DBF-3AD7-21CA4C9E21D0}"/>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11938F9D-30A7-C324-B901-88DD1E3BD667}"/>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70BB5CC0-A50F-53EB-FCF8-45286F6E1B4E}"/>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16B63E61-B996-C881-12C3-AD0C43D43EF3}"/>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0DFC471C-C91C-AC9B-4E08-BE7DEF55BD1F}"/>
              </a:ext>
            </a:extLst>
          </p:cNvPr>
          <p:cNvSpPr>
            <a:spLocks noGrp="1"/>
          </p:cNvSpPr>
          <p:nvPr>
            <p:ph type="ctrTitle"/>
          </p:nvPr>
        </p:nvSpPr>
        <p:spPr>
          <a:xfrm>
            <a:off x="685800" y="2130425"/>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4.4 VARSAYIMLAR</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C13E1D9-01DE-B596-CCBE-61673BA49872}"/>
              </a:ext>
            </a:extLst>
          </p:cNvPr>
          <p:cNvSpPr txBox="1"/>
          <p:nvPr/>
        </p:nvSpPr>
        <p:spPr>
          <a:xfrm>
            <a:off x="685800" y="2981636"/>
            <a:ext cx="7956755" cy="1180836"/>
          </a:xfrm>
          <a:prstGeom prst="rect">
            <a:avLst/>
          </a:prstGeom>
          <a:noFill/>
        </p:spPr>
        <p:txBody>
          <a:bodyPr wrap="square" rtlCol="0">
            <a:spAutoFit/>
          </a:bodyPr>
          <a:lstStyle/>
          <a:p>
            <a:pPr marR="0" lvl="0" algn="just">
              <a:lnSpc>
                <a:spcPct val="115000"/>
              </a:lnSpc>
              <a:spcAft>
                <a:spcPts val="800"/>
              </a:spcAft>
              <a:buSzPts val="1000"/>
              <a:tabLst>
                <a:tab pos="457200" algn="l"/>
              </a:tabLst>
            </a:pP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	Tüm hemşirelerin yetkinlik düzeyi, atandıkları vardiya için yeterlidir.</a:t>
            </a:r>
          </a:p>
          <a:p>
            <a:pPr marR="0" lvl="0" algn="just">
              <a:lnSpc>
                <a:spcPct val="115000"/>
              </a:lnSpc>
              <a:spcAft>
                <a:spcPts val="800"/>
              </a:spcAft>
              <a:buSzPts val="1000"/>
              <a:tabLst>
                <a:tab pos="457200" algn="l"/>
              </a:tabLst>
            </a:pP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	411 senaryo, gelecekte karşılaşılabilecek durumları temsil eder.</a:t>
            </a:r>
          </a:p>
          <a:p>
            <a:endParaRPr lang="tr-T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7853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FB5F8-4609-486F-E031-8E2B4A158499}"/>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D6C5F7A1-B58C-6D0A-B515-3475BB5BF035}"/>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8F4CC377-BD38-4230-E7E7-207D7CC94690}"/>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B28AD091-3969-C615-8012-DCB6567F15A4}"/>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967CD28A-C60F-2F02-8F41-8E1366695E42}"/>
              </a:ext>
            </a:extLst>
          </p:cNvPr>
          <p:cNvSpPr>
            <a:spLocks noGrp="1"/>
          </p:cNvSpPr>
          <p:nvPr>
            <p:ph type="ctrTitle"/>
          </p:nvPr>
        </p:nvSpPr>
        <p:spPr>
          <a:xfrm>
            <a:off x="685800" y="1833853"/>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5. PYTHON KISMI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6239FF2-BA31-F1E6-0D37-0DC9659650E2}"/>
              </a:ext>
            </a:extLst>
          </p:cNvPr>
          <p:cNvSpPr txBox="1"/>
          <p:nvPr/>
        </p:nvSpPr>
        <p:spPr>
          <a:xfrm>
            <a:off x="685799" y="2402142"/>
            <a:ext cx="7956755" cy="4083682"/>
          </a:xfrm>
          <a:prstGeom prst="rect">
            <a:avLst/>
          </a:prstGeom>
          <a:noFill/>
        </p:spPr>
        <p:txBody>
          <a:bodyPr wrap="square" rtlCol="0">
            <a:spAutoFit/>
          </a:bodyPr>
          <a:lstStyle/>
          <a:p>
            <a:pPr marL="0" marR="0">
              <a:lnSpc>
                <a:spcPct val="115000"/>
              </a:lnSpc>
              <a:spcAft>
                <a:spcPts val="800"/>
              </a:spcAft>
              <a:buNone/>
            </a:pPr>
            <a:r>
              <a:rPr lang="tr-T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 bölümde, problemin çözümünde kullanılan Python mimarisi özetlenmiştir.</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tr-TR" sz="1800" kern="0" dirty="0">
                <a:solidFill>
                  <a:srgbClr val="000000"/>
                </a:solidFill>
                <a:effectLst/>
                <a:latin typeface="Times New Roman" panose="02020603050405020304" pitchFamily="18" charset="0"/>
                <a:ea typeface="Times New Roman" panose="02020603050405020304" pitchFamily="18" charset="0"/>
              </a:rPr>
              <a:t># --- 1. KÜTÜPHANELERİN YÜKLENMESİ ---</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import</a:t>
            </a: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pandas</a:t>
            </a:r>
            <a:r>
              <a:rPr lang="tr-TR" sz="1800" kern="0" dirty="0">
                <a:solidFill>
                  <a:srgbClr val="000000"/>
                </a:solidFill>
                <a:effectLst/>
                <a:latin typeface="Times New Roman" panose="02020603050405020304" pitchFamily="18" charset="0"/>
                <a:ea typeface="Times New Roman" panose="02020603050405020304" pitchFamily="18" charset="0"/>
              </a:rPr>
              <a:t> as </a:t>
            </a:r>
            <a:r>
              <a:rPr lang="tr-TR" sz="1800" kern="0" dirty="0" err="1">
                <a:solidFill>
                  <a:srgbClr val="000000"/>
                </a:solidFill>
                <a:effectLst/>
                <a:latin typeface="Times New Roman" panose="02020603050405020304" pitchFamily="18" charset="0"/>
                <a:ea typeface="Times New Roman" panose="02020603050405020304" pitchFamily="18" charset="0"/>
              </a:rPr>
              <a:t>pd</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import</a:t>
            </a: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numpy</a:t>
            </a:r>
            <a:r>
              <a:rPr lang="tr-TR" sz="1800" kern="0" dirty="0">
                <a:solidFill>
                  <a:srgbClr val="000000"/>
                </a:solidFill>
                <a:effectLst/>
                <a:latin typeface="Times New Roman" panose="02020603050405020304" pitchFamily="18" charset="0"/>
                <a:ea typeface="Times New Roman" panose="02020603050405020304" pitchFamily="18" charset="0"/>
              </a:rPr>
              <a:t> as </a:t>
            </a:r>
            <a:r>
              <a:rPr lang="tr-TR" sz="1800" kern="0" dirty="0" err="1">
                <a:solidFill>
                  <a:srgbClr val="000000"/>
                </a:solidFill>
                <a:effectLst/>
                <a:latin typeface="Times New Roman" panose="02020603050405020304" pitchFamily="18" charset="0"/>
                <a:ea typeface="Times New Roman" panose="02020603050405020304" pitchFamily="18" charset="0"/>
              </a:rPr>
              <a:t>np</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from</a:t>
            </a: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pulp</a:t>
            </a: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import</a:t>
            </a:r>
            <a:r>
              <a:rPr lang="tr-TR" sz="1800" kern="0" dirty="0">
                <a:solidFill>
                  <a:srgbClr val="000000"/>
                </a:solidFill>
                <a:effectLst/>
                <a:latin typeface="Times New Roman" panose="02020603050405020304" pitchFamily="18" charset="0"/>
                <a:ea typeface="Times New Roman" panose="02020603050405020304" pitchFamily="18" charset="0"/>
              </a:rPr>
              <a:t> * # Veya '</a:t>
            </a:r>
            <a:r>
              <a:rPr lang="tr-TR" sz="1800" kern="0" dirty="0" err="1">
                <a:solidFill>
                  <a:srgbClr val="000000"/>
                </a:solidFill>
                <a:effectLst/>
                <a:latin typeface="Times New Roman" panose="02020603050405020304" pitchFamily="18" charset="0"/>
                <a:ea typeface="Times New Roman" panose="02020603050405020304" pitchFamily="18" charset="0"/>
              </a:rPr>
              <a:t>gurobipy</a:t>
            </a:r>
            <a:r>
              <a:rPr lang="tr-TR" sz="1800" kern="0" dirty="0">
                <a:solidFill>
                  <a:srgbClr val="000000"/>
                </a:solidFill>
                <a:effectLst/>
                <a:latin typeface="Times New Roman" panose="02020603050405020304" pitchFamily="18" charset="0"/>
                <a:ea typeface="Times New Roman" panose="02020603050405020304" pitchFamily="18" charset="0"/>
              </a:rPr>
              <a:t>' gibi ticari çözücüler</a:t>
            </a:r>
            <a:br>
              <a:rPr lang="tr-TR" sz="1800" kern="0" dirty="0">
                <a:solidFill>
                  <a:srgbClr val="000000"/>
                </a:solidFill>
                <a:effectLst/>
                <a:latin typeface="Times New Roman" panose="02020603050405020304" pitchFamily="18" charset="0"/>
                <a:ea typeface="Times New Roman" panose="02020603050405020304" pitchFamily="18" charset="0"/>
              </a:rPr>
            </a:b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--- 2. VERİ YÜKLEME ---</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Excel/CSV dosyasından vardiya ve talep verilerinin çekilmesi</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Veri seti: '411_scenarios_data.xlsx'</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df_scenarios</a:t>
            </a:r>
            <a:r>
              <a:rPr lang="tr-TR" sz="1800" kern="0" dirty="0">
                <a:solidFill>
                  <a:srgbClr val="000000"/>
                </a:solidFill>
                <a:effectLst/>
                <a:latin typeface="Times New Roman" panose="02020603050405020304" pitchFamily="18" charset="0"/>
                <a:ea typeface="Times New Roman" panose="02020603050405020304" pitchFamily="18" charset="0"/>
              </a:rPr>
              <a:t> = </a:t>
            </a:r>
            <a:r>
              <a:rPr lang="tr-TR" sz="1800" kern="0" dirty="0" err="1">
                <a:solidFill>
                  <a:srgbClr val="000000"/>
                </a:solidFill>
                <a:effectLst/>
                <a:latin typeface="Times New Roman" panose="02020603050405020304" pitchFamily="18" charset="0"/>
                <a:ea typeface="Times New Roman" panose="02020603050405020304" pitchFamily="18" charset="0"/>
              </a:rPr>
              <a:t>pd.read_excel</a:t>
            </a:r>
            <a:r>
              <a:rPr lang="tr-TR" sz="1800" kern="0" dirty="0">
                <a:solidFill>
                  <a:srgbClr val="000000"/>
                </a:solidFill>
                <a:effectLst/>
                <a:latin typeface="Times New Roman" panose="02020603050405020304" pitchFamily="18" charset="0"/>
                <a:ea typeface="Times New Roman" panose="02020603050405020304" pitchFamily="18" charset="0"/>
              </a:rPr>
              <a:t>("scenario_data.xlsx")</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nurses</a:t>
            </a:r>
            <a:r>
              <a:rPr lang="tr-TR" sz="1800" kern="0" dirty="0">
                <a:solidFill>
                  <a:srgbClr val="000000"/>
                </a:solidFill>
                <a:effectLst/>
                <a:latin typeface="Times New Roman" panose="02020603050405020304" pitchFamily="18" charset="0"/>
                <a:ea typeface="Times New Roman" panose="02020603050405020304" pitchFamily="18" charset="0"/>
              </a:rPr>
              <a:t> = ["H" + </a:t>
            </a:r>
            <a:r>
              <a:rPr lang="tr-TR" sz="1800" kern="0" dirty="0" err="1">
                <a:solidFill>
                  <a:srgbClr val="000000"/>
                </a:solidFill>
                <a:effectLst/>
                <a:latin typeface="Times New Roman" panose="02020603050405020304" pitchFamily="18" charset="0"/>
                <a:ea typeface="Times New Roman" panose="02020603050405020304" pitchFamily="18" charset="0"/>
              </a:rPr>
              <a:t>str</a:t>
            </a:r>
            <a:r>
              <a:rPr lang="tr-TR" sz="1800" kern="0" dirty="0">
                <a:solidFill>
                  <a:srgbClr val="000000"/>
                </a:solidFill>
                <a:effectLst/>
                <a:latin typeface="Times New Roman" panose="02020603050405020304" pitchFamily="18" charset="0"/>
                <a:ea typeface="Times New Roman" panose="02020603050405020304" pitchFamily="18" charset="0"/>
              </a:rPr>
              <a:t>(i) for i in </a:t>
            </a:r>
            <a:r>
              <a:rPr lang="tr-TR" sz="1800" kern="0" dirty="0" err="1">
                <a:solidFill>
                  <a:srgbClr val="000000"/>
                </a:solidFill>
                <a:effectLst/>
                <a:latin typeface="Times New Roman" panose="02020603050405020304" pitchFamily="18" charset="0"/>
                <a:ea typeface="Times New Roman" panose="02020603050405020304" pitchFamily="18" charset="0"/>
              </a:rPr>
              <a:t>range</a:t>
            </a:r>
            <a:r>
              <a:rPr lang="tr-TR" sz="1800" kern="0" dirty="0">
                <a:solidFill>
                  <a:srgbClr val="000000"/>
                </a:solidFill>
                <a:effectLst/>
                <a:latin typeface="Times New Roman" panose="02020603050405020304" pitchFamily="18" charset="0"/>
                <a:ea typeface="Times New Roman" panose="02020603050405020304" pitchFamily="18" charset="0"/>
              </a:rPr>
              <a:t>(1, 30)] # 29 Hemşire</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days</a:t>
            </a:r>
            <a:r>
              <a:rPr lang="tr-TR" sz="1800" kern="0" dirty="0">
                <a:solidFill>
                  <a:srgbClr val="000000"/>
                </a:solidFill>
                <a:effectLst/>
                <a:latin typeface="Times New Roman" panose="02020603050405020304" pitchFamily="18" charset="0"/>
                <a:ea typeface="Times New Roman" panose="02020603050405020304" pitchFamily="18" charset="0"/>
              </a:rPr>
              <a:t> = ["G1", "G2", "G3", "G4", "G5", "G6", "G7"]</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shifts</a:t>
            </a:r>
            <a:r>
              <a:rPr lang="tr-TR" sz="1800" kern="0" dirty="0">
                <a:solidFill>
                  <a:srgbClr val="000000"/>
                </a:solidFill>
                <a:effectLst/>
                <a:latin typeface="Times New Roman" panose="02020603050405020304" pitchFamily="18" charset="0"/>
                <a:ea typeface="Times New Roman" panose="02020603050405020304" pitchFamily="18" charset="0"/>
              </a:rPr>
              <a:t> = ["S", "A", "G"] # Sabah, Akşam, Gece</a:t>
            </a:r>
            <a:br>
              <a:rPr lang="tr-TR" sz="1800" kern="0" dirty="0">
                <a:solidFill>
                  <a:srgbClr val="000000"/>
                </a:solidFill>
                <a:effectLst/>
                <a:latin typeface="Times New Roman" panose="02020603050405020304" pitchFamily="18" charset="0"/>
                <a:ea typeface="Times New Roman" panose="02020603050405020304" pitchFamily="18" charset="0"/>
              </a:rPr>
            </a:br>
            <a:endParaRPr lang="tr-T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180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7A0FD-3C2D-C5CE-9F9E-4D9CD443974E}"/>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BB4AB3CF-86C0-3C9F-4AAB-E5C5198CE654}"/>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EE06770E-9F12-4F49-7A24-FCEAE8703870}"/>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2AAD0C2B-8B07-A029-9EB8-4819F87E41CF}"/>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FE9A029A-F590-7756-404B-15FDE326CC85}"/>
              </a:ext>
            </a:extLst>
          </p:cNvPr>
          <p:cNvSpPr>
            <a:spLocks noGrp="1"/>
          </p:cNvSpPr>
          <p:nvPr>
            <p:ph type="ctrTitle"/>
          </p:nvPr>
        </p:nvSpPr>
        <p:spPr>
          <a:xfrm>
            <a:off x="685800" y="1968192"/>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5. PYTHON KISMI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798C9DD-6171-4BBA-34DA-A62CB2D3AA11}"/>
              </a:ext>
            </a:extLst>
          </p:cNvPr>
          <p:cNvSpPr txBox="1"/>
          <p:nvPr/>
        </p:nvSpPr>
        <p:spPr>
          <a:xfrm>
            <a:off x="685799" y="2578680"/>
            <a:ext cx="7956755" cy="3219728"/>
          </a:xfrm>
          <a:prstGeom prst="rect">
            <a:avLst/>
          </a:prstGeom>
          <a:noFill/>
        </p:spPr>
        <p:txBody>
          <a:bodyPr wrap="square" rtlCol="0">
            <a:spAutoFit/>
          </a:bodyPr>
          <a:lstStyle/>
          <a:p>
            <a:pPr marL="0" marR="0">
              <a:lnSpc>
                <a:spcPct val="115000"/>
              </a:lnSpc>
              <a:spcAft>
                <a:spcPts val="800"/>
              </a:spcAft>
              <a:buNone/>
            </a:pPr>
            <a:r>
              <a:rPr lang="tr-TR" sz="1800" kern="0" dirty="0">
                <a:solidFill>
                  <a:srgbClr val="000000"/>
                </a:solidFill>
                <a:effectLst/>
                <a:latin typeface="Times New Roman" panose="02020603050405020304" pitchFamily="18" charset="0"/>
                <a:ea typeface="Times New Roman" panose="02020603050405020304" pitchFamily="18" charset="0"/>
              </a:rPr>
              <a:t># --- 3. MODEL HAZIRLIĞI VE KARAR DEĞİŞKENLERİ ---</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Modelin başlatılması (Minimizasyon problemi)</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prob = </a:t>
            </a:r>
            <a:r>
              <a:rPr lang="tr-TR" sz="1800" kern="0" dirty="0" err="1">
                <a:solidFill>
                  <a:srgbClr val="000000"/>
                </a:solidFill>
                <a:effectLst/>
                <a:latin typeface="Times New Roman" panose="02020603050405020304" pitchFamily="18" charset="0"/>
                <a:ea typeface="Times New Roman" panose="02020603050405020304" pitchFamily="18" charset="0"/>
              </a:rPr>
              <a:t>LpProblem</a:t>
            </a:r>
            <a:r>
              <a:rPr lang="tr-TR" sz="1800" kern="0" dirty="0">
                <a:solidFill>
                  <a:srgbClr val="000000"/>
                </a:solidFill>
                <a:effectLst/>
                <a:latin typeface="Times New Roman" panose="02020603050405020304" pitchFamily="18" charset="0"/>
                <a:ea typeface="Times New Roman" panose="02020603050405020304" pitchFamily="18" charset="0"/>
              </a:rPr>
              <a:t>("</a:t>
            </a:r>
            <a:r>
              <a:rPr lang="tr-TR" sz="1800" kern="0" dirty="0" err="1">
                <a:solidFill>
                  <a:srgbClr val="000000"/>
                </a:solidFill>
                <a:effectLst/>
                <a:latin typeface="Times New Roman" panose="02020603050405020304" pitchFamily="18" charset="0"/>
                <a:ea typeface="Times New Roman" panose="02020603050405020304" pitchFamily="18" charset="0"/>
              </a:rPr>
              <a:t>Robust_Nurse_Scheduling</a:t>
            </a: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LpMinimize</a:t>
            </a:r>
            <a:r>
              <a:rPr lang="tr-TR" sz="1800" kern="0" dirty="0">
                <a:solidFill>
                  <a:srgbClr val="000000"/>
                </a:solidFill>
                <a:effectLst/>
                <a:latin typeface="Times New Roman" panose="02020603050405020304" pitchFamily="18" charset="0"/>
                <a:ea typeface="Times New Roman" panose="02020603050405020304" pitchFamily="18" charset="0"/>
              </a:rPr>
              <a:t>)</a:t>
            </a:r>
            <a:br>
              <a:rPr lang="tr-TR" sz="1800" kern="0" dirty="0">
                <a:solidFill>
                  <a:srgbClr val="000000"/>
                </a:solidFill>
                <a:effectLst/>
                <a:latin typeface="Times New Roman" panose="02020603050405020304" pitchFamily="18" charset="0"/>
                <a:ea typeface="Times New Roman" panose="02020603050405020304" pitchFamily="18" charset="0"/>
              </a:rPr>
            </a:b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Karar Değişkeni: x[hemşire][gün][vardiya] -&gt; 0 veya 1</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x = </a:t>
            </a:r>
            <a:r>
              <a:rPr lang="tr-TR" sz="1800" kern="0" dirty="0" err="1">
                <a:solidFill>
                  <a:srgbClr val="000000"/>
                </a:solidFill>
                <a:effectLst/>
                <a:latin typeface="Times New Roman" panose="02020603050405020304" pitchFamily="18" charset="0"/>
                <a:ea typeface="Times New Roman" panose="02020603050405020304" pitchFamily="18" charset="0"/>
              </a:rPr>
              <a:t>LpVariable.dicts</a:t>
            </a:r>
            <a:r>
              <a:rPr lang="tr-TR" sz="1800" kern="0" dirty="0">
                <a:solidFill>
                  <a:srgbClr val="000000"/>
                </a:solidFill>
                <a:effectLst/>
                <a:latin typeface="Times New Roman" panose="02020603050405020304" pitchFamily="18" charset="0"/>
                <a:ea typeface="Times New Roman" panose="02020603050405020304" pitchFamily="18" charset="0"/>
              </a:rPr>
              <a:t>("</a:t>
            </a:r>
            <a:r>
              <a:rPr lang="tr-TR" sz="1800" kern="0" dirty="0" err="1">
                <a:solidFill>
                  <a:srgbClr val="000000"/>
                </a:solidFill>
                <a:effectLst/>
                <a:latin typeface="Times New Roman" panose="02020603050405020304" pitchFamily="18" charset="0"/>
                <a:ea typeface="Times New Roman" panose="02020603050405020304" pitchFamily="18" charset="0"/>
              </a:rPr>
              <a:t>assign</a:t>
            </a: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nurses</a:t>
            </a: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days</a:t>
            </a: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shifts</a:t>
            </a:r>
            <a:r>
              <a:rPr lang="tr-TR" sz="1800" kern="0" dirty="0">
                <a:solidFill>
                  <a:srgbClr val="000000"/>
                </a:solidFill>
                <a:effectLst/>
                <a:latin typeface="Times New Roman" panose="02020603050405020304" pitchFamily="18" charset="0"/>
                <a:ea typeface="Times New Roman" panose="02020603050405020304" pitchFamily="18" charset="0"/>
              </a:rPr>
              <a:t>), 0, 1, </a:t>
            </a:r>
            <a:r>
              <a:rPr lang="tr-TR" sz="1800" kern="0" dirty="0" err="1">
                <a:solidFill>
                  <a:srgbClr val="000000"/>
                </a:solidFill>
                <a:effectLst/>
                <a:latin typeface="Times New Roman" panose="02020603050405020304" pitchFamily="18" charset="0"/>
                <a:ea typeface="Times New Roman" panose="02020603050405020304" pitchFamily="18" charset="0"/>
              </a:rPr>
              <a:t>LpBinary</a:t>
            </a:r>
            <a:r>
              <a:rPr lang="tr-TR" sz="1800" kern="0" dirty="0">
                <a:solidFill>
                  <a:srgbClr val="000000"/>
                </a:solidFill>
                <a:effectLst/>
                <a:latin typeface="Times New Roman" panose="02020603050405020304" pitchFamily="18" charset="0"/>
                <a:ea typeface="Times New Roman" panose="02020603050405020304" pitchFamily="18" charset="0"/>
              </a:rPr>
              <a:t>)</a:t>
            </a:r>
            <a:br>
              <a:rPr lang="tr-TR" sz="1800" kern="0" dirty="0">
                <a:solidFill>
                  <a:srgbClr val="000000"/>
                </a:solidFill>
                <a:effectLst/>
                <a:latin typeface="Times New Roman" panose="02020603050405020304" pitchFamily="18" charset="0"/>
                <a:ea typeface="Times New Roman" panose="02020603050405020304" pitchFamily="18" charset="0"/>
              </a:rPr>
            </a:br>
            <a:br>
              <a:rPr lang="tr-TR" sz="1800" kern="0" dirty="0">
                <a:solidFill>
                  <a:srgbClr val="000000"/>
                </a:solidFill>
                <a:effectLst/>
                <a:latin typeface="Times New Roman" panose="02020603050405020304" pitchFamily="18" charset="0"/>
                <a:ea typeface="Times New Roman" panose="02020603050405020304" pitchFamily="18" charset="0"/>
              </a:rPr>
            </a:br>
            <a:br>
              <a:rPr lang="tr-TR" sz="1800" kern="0" dirty="0">
                <a:solidFill>
                  <a:srgbClr val="000000"/>
                </a:solidFill>
                <a:effectLst/>
                <a:latin typeface="Times New Roman" panose="02020603050405020304" pitchFamily="18" charset="0"/>
                <a:ea typeface="Times New Roman" panose="02020603050405020304" pitchFamily="18" charset="0"/>
              </a:rPr>
            </a:br>
            <a:br>
              <a:rPr lang="tr-TR" sz="1800" kern="0" dirty="0">
                <a:solidFill>
                  <a:srgbClr val="000000"/>
                </a:solidFill>
                <a:effectLst/>
                <a:latin typeface="Times New Roman" panose="02020603050405020304" pitchFamily="18" charset="0"/>
                <a:ea typeface="Times New Roman" panose="02020603050405020304" pitchFamily="18" charset="0"/>
              </a:rPr>
            </a:br>
            <a:endParaRPr lang="tr-T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42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26885-F8FA-AC18-8B89-B1A3E8163EBF}"/>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482335BF-E050-4B77-1051-9DDA5E90A02D}"/>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21CF4B5A-18B5-BAFB-6848-26E2550F217A}"/>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654C8AD9-7A4A-DDE7-5C69-9A70F24B9BBC}"/>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BD3CAC4F-F0C1-6676-12B1-5BCCE7C724C9}"/>
              </a:ext>
            </a:extLst>
          </p:cNvPr>
          <p:cNvSpPr>
            <a:spLocks noGrp="1"/>
          </p:cNvSpPr>
          <p:nvPr>
            <p:ph type="ctrTitle"/>
          </p:nvPr>
        </p:nvSpPr>
        <p:spPr>
          <a:xfrm>
            <a:off x="685799" y="1576612"/>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5. PYTHON KISMI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6BE6008-36EE-D461-B614-84930A05461A}"/>
              </a:ext>
            </a:extLst>
          </p:cNvPr>
          <p:cNvSpPr txBox="1"/>
          <p:nvPr/>
        </p:nvSpPr>
        <p:spPr>
          <a:xfrm>
            <a:off x="685799" y="2155214"/>
            <a:ext cx="7956755" cy="4207947"/>
          </a:xfrm>
          <a:prstGeom prst="rect">
            <a:avLst/>
          </a:prstGeom>
          <a:noFill/>
        </p:spPr>
        <p:txBody>
          <a:bodyPr wrap="square" rtlCol="0">
            <a:spAutoFit/>
          </a:bodyPr>
          <a:lstStyle/>
          <a:p>
            <a:pPr marL="0" marR="0">
              <a:lnSpc>
                <a:spcPct val="115000"/>
              </a:lnSpc>
              <a:spcAft>
                <a:spcPts val="800"/>
              </a:spcAft>
              <a:buNone/>
            </a:pPr>
            <a:r>
              <a:rPr lang="tr-TR" sz="1800" kern="0" dirty="0">
                <a:solidFill>
                  <a:srgbClr val="000000"/>
                </a:solidFill>
                <a:effectLst/>
                <a:latin typeface="Times New Roman" panose="02020603050405020304" pitchFamily="18" charset="0"/>
                <a:ea typeface="Times New Roman" panose="02020603050405020304" pitchFamily="18" charset="0"/>
              </a:rPr>
              <a:t># --- 4. OPTİMİZASYON KISITLARI ---</a:t>
            </a:r>
            <a:br>
              <a:rPr lang="tr-TR" sz="1800" kern="0" dirty="0">
                <a:solidFill>
                  <a:srgbClr val="000000"/>
                </a:solidFill>
                <a:effectLst/>
                <a:latin typeface="Times New Roman" panose="02020603050405020304" pitchFamily="18" charset="0"/>
                <a:ea typeface="Times New Roman" panose="02020603050405020304" pitchFamily="18" charset="0"/>
              </a:rPr>
            </a:b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Her hemşire günde en fazla 1 vardiya veya izin</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for n in </a:t>
            </a:r>
            <a:r>
              <a:rPr lang="tr-TR" sz="1800" kern="0" dirty="0" err="1">
                <a:solidFill>
                  <a:srgbClr val="000000"/>
                </a:solidFill>
                <a:effectLst/>
                <a:latin typeface="Times New Roman" panose="02020603050405020304" pitchFamily="18" charset="0"/>
                <a:ea typeface="Times New Roman" panose="02020603050405020304" pitchFamily="18" charset="0"/>
              </a:rPr>
              <a:t>nurses</a:t>
            </a:r>
            <a:r>
              <a:rPr lang="tr-TR" sz="1800" kern="0" dirty="0">
                <a:solidFill>
                  <a:srgbClr val="000000"/>
                </a:solidFill>
                <a:effectLst/>
                <a:latin typeface="Times New Roman" panose="02020603050405020304" pitchFamily="18" charset="0"/>
                <a:ea typeface="Times New Roman" panose="02020603050405020304" pitchFamily="18" charset="0"/>
              </a:rPr>
              <a:t>:</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for d in </a:t>
            </a:r>
            <a:r>
              <a:rPr lang="tr-TR" sz="1800" kern="0" dirty="0" err="1">
                <a:solidFill>
                  <a:srgbClr val="000000"/>
                </a:solidFill>
                <a:effectLst/>
                <a:latin typeface="Times New Roman" panose="02020603050405020304" pitchFamily="18" charset="0"/>
                <a:ea typeface="Times New Roman" panose="02020603050405020304" pitchFamily="18" charset="0"/>
              </a:rPr>
              <a:t>days</a:t>
            </a:r>
            <a:r>
              <a:rPr lang="tr-TR" sz="1800" kern="0" dirty="0">
                <a:solidFill>
                  <a:srgbClr val="000000"/>
                </a:solidFill>
                <a:effectLst/>
                <a:latin typeface="Times New Roman" panose="02020603050405020304" pitchFamily="18" charset="0"/>
                <a:ea typeface="Times New Roman" panose="02020603050405020304" pitchFamily="18" charset="0"/>
              </a:rPr>
              <a:t>:</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prob += </a:t>
            </a:r>
            <a:r>
              <a:rPr lang="tr-TR" sz="1800" kern="0" dirty="0" err="1">
                <a:solidFill>
                  <a:srgbClr val="000000"/>
                </a:solidFill>
                <a:effectLst/>
                <a:latin typeface="Times New Roman" panose="02020603050405020304" pitchFamily="18" charset="0"/>
                <a:ea typeface="Times New Roman" panose="02020603050405020304" pitchFamily="18" charset="0"/>
              </a:rPr>
              <a:t>lpSum</a:t>
            </a:r>
            <a:r>
              <a:rPr lang="tr-TR" sz="1800" kern="0" dirty="0">
                <a:solidFill>
                  <a:srgbClr val="000000"/>
                </a:solidFill>
                <a:effectLst/>
                <a:latin typeface="Times New Roman" panose="02020603050405020304" pitchFamily="18" charset="0"/>
                <a:ea typeface="Times New Roman" panose="02020603050405020304" pitchFamily="18" charset="0"/>
              </a:rPr>
              <a:t>([x[n][d][s] for s in </a:t>
            </a:r>
            <a:r>
              <a:rPr lang="tr-TR" sz="1800" kern="0" dirty="0" err="1">
                <a:solidFill>
                  <a:srgbClr val="000000"/>
                </a:solidFill>
                <a:effectLst/>
                <a:latin typeface="Times New Roman" panose="02020603050405020304" pitchFamily="18" charset="0"/>
                <a:ea typeface="Times New Roman" panose="02020603050405020304" pitchFamily="18" charset="0"/>
              </a:rPr>
              <a:t>shifts</a:t>
            </a:r>
            <a:r>
              <a:rPr lang="tr-TR" sz="1800" kern="0" dirty="0">
                <a:solidFill>
                  <a:srgbClr val="000000"/>
                </a:solidFill>
                <a:effectLst/>
                <a:latin typeface="Times New Roman" panose="02020603050405020304" pitchFamily="18" charset="0"/>
                <a:ea typeface="Times New Roman" panose="02020603050405020304" pitchFamily="18" charset="0"/>
              </a:rPr>
              <a:t>]) &lt;= 1</a:t>
            </a:r>
            <a:br>
              <a:rPr lang="tr-TR" sz="1800" kern="0" dirty="0">
                <a:solidFill>
                  <a:srgbClr val="000000"/>
                </a:solidFill>
                <a:effectLst/>
                <a:latin typeface="Times New Roman" panose="02020603050405020304" pitchFamily="18" charset="0"/>
                <a:ea typeface="Times New Roman" panose="02020603050405020304" pitchFamily="18" charset="0"/>
              </a:rPr>
            </a:b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a:t>
            </a:r>
            <a:r>
              <a:rPr lang="tr-TR" sz="1800" kern="0" dirty="0" err="1">
                <a:solidFill>
                  <a:srgbClr val="000000"/>
                </a:solidFill>
                <a:effectLst/>
                <a:latin typeface="Times New Roman" panose="02020603050405020304" pitchFamily="18" charset="0"/>
                <a:ea typeface="Times New Roman" panose="02020603050405020304" pitchFamily="18" charset="0"/>
              </a:rPr>
              <a:t>Robust</a:t>
            </a:r>
            <a:r>
              <a:rPr lang="tr-TR" sz="1800" kern="0" dirty="0">
                <a:solidFill>
                  <a:srgbClr val="000000"/>
                </a:solidFill>
                <a:effectLst/>
                <a:latin typeface="Times New Roman" panose="02020603050405020304" pitchFamily="18" charset="0"/>
                <a:ea typeface="Times New Roman" panose="02020603050405020304" pitchFamily="18" charset="0"/>
              </a:rPr>
              <a:t> Talep Kısıtı (Basitleştirilmiş): </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Atanan hemşire sayısı &gt;= En kötü senaryo talebi</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worst_case_demand</a:t>
            </a:r>
            <a:r>
              <a:rPr lang="tr-TR" sz="1800" kern="0" dirty="0">
                <a:solidFill>
                  <a:srgbClr val="000000"/>
                </a:solidFill>
                <a:effectLst/>
                <a:latin typeface="Times New Roman" panose="02020603050405020304" pitchFamily="18" charset="0"/>
                <a:ea typeface="Times New Roman" panose="02020603050405020304" pitchFamily="18" charset="0"/>
              </a:rPr>
              <a:t> = </a:t>
            </a:r>
            <a:r>
              <a:rPr lang="tr-TR" sz="1800" kern="0" dirty="0" err="1">
                <a:solidFill>
                  <a:srgbClr val="000000"/>
                </a:solidFill>
                <a:effectLst/>
                <a:latin typeface="Times New Roman" panose="02020603050405020304" pitchFamily="18" charset="0"/>
                <a:ea typeface="Times New Roman" panose="02020603050405020304" pitchFamily="18" charset="0"/>
              </a:rPr>
              <a:t>df_scenarios.max</a:t>
            </a:r>
            <a:r>
              <a:rPr lang="tr-TR" sz="1800" kern="0" dirty="0">
                <a:solidFill>
                  <a:srgbClr val="000000"/>
                </a:solidFill>
                <a:effectLst/>
                <a:latin typeface="Times New Roman" panose="02020603050405020304" pitchFamily="18" charset="0"/>
                <a:ea typeface="Times New Roman" panose="02020603050405020304" pitchFamily="18" charset="0"/>
              </a:rPr>
              <a:t>(</a:t>
            </a:r>
            <a:r>
              <a:rPr lang="tr-TR" sz="1800" kern="0" dirty="0" err="1">
                <a:solidFill>
                  <a:srgbClr val="000000"/>
                </a:solidFill>
                <a:effectLst/>
                <a:latin typeface="Times New Roman" panose="02020603050405020304" pitchFamily="18" charset="0"/>
                <a:ea typeface="Times New Roman" panose="02020603050405020304" pitchFamily="18" charset="0"/>
              </a:rPr>
              <a:t>axis</a:t>
            </a:r>
            <a:r>
              <a:rPr lang="tr-TR" sz="1800" kern="0" dirty="0">
                <a:solidFill>
                  <a:srgbClr val="000000"/>
                </a:solidFill>
                <a:effectLst/>
                <a:latin typeface="Times New Roman" panose="02020603050405020304" pitchFamily="18" charset="0"/>
                <a:ea typeface="Times New Roman" panose="02020603050405020304" pitchFamily="18" charset="0"/>
              </a:rPr>
              <a:t>=1) # Her gün için </a:t>
            </a:r>
            <a:r>
              <a:rPr lang="tr-TR" sz="1800" kern="0" dirty="0" err="1">
                <a:solidFill>
                  <a:srgbClr val="000000"/>
                </a:solidFill>
                <a:effectLst/>
                <a:latin typeface="Times New Roman" panose="02020603050405020304" pitchFamily="18" charset="0"/>
                <a:ea typeface="Times New Roman" panose="02020603050405020304" pitchFamily="18" charset="0"/>
              </a:rPr>
              <a:t>max</a:t>
            </a:r>
            <a:r>
              <a:rPr lang="tr-TR" sz="1800" kern="0" dirty="0">
                <a:solidFill>
                  <a:srgbClr val="000000"/>
                </a:solidFill>
                <a:effectLst/>
                <a:latin typeface="Times New Roman" panose="02020603050405020304" pitchFamily="18" charset="0"/>
                <a:ea typeface="Times New Roman" panose="02020603050405020304" pitchFamily="18" charset="0"/>
              </a:rPr>
              <a:t> talep</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for d in </a:t>
            </a:r>
            <a:r>
              <a:rPr lang="tr-TR" sz="1800" kern="0" dirty="0" err="1">
                <a:solidFill>
                  <a:srgbClr val="000000"/>
                </a:solidFill>
                <a:effectLst/>
                <a:latin typeface="Times New Roman" panose="02020603050405020304" pitchFamily="18" charset="0"/>
                <a:ea typeface="Times New Roman" panose="02020603050405020304" pitchFamily="18" charset="0"/>
              </a:rPr>
              <a:t>days</a:t>
            </a:r>
            <a:r>
              <a:rPr lang="tr-TR" sz="1800" kern="0" dirty="0">
                <a:solidFill>
                  <a:srgbClr val="000000"/>
                </a:solidFill>
                <a:effectLst/>
                <a:latin typeface="Times New Roman" panose="02020603050405020304" pitchFamily="18" charset="0"/>
                <a:ea typeface="Times New Roman" panose="02020603050405020304" pitchFamily="18" charset="0"/>
              </a:rPr>
              <a:t>:</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for s in </a:t>
            </a:r>
            <a:r>
              <a:rPr lang="tr-TR" sz="1800" kern="0" dirty="0" err="1">
                <a:solidFill>
                  <a:srgbClr val="000000"/>
                </a:solidFill>
                <a:effectLst/>
                <a:latin typeface="Times New Roman" panose="02020603050405020304" pitchFamily="18" charset="0"/>
                <a:ea typeface="Times New Roman" panose="02020603050405020304" pitchFamily="18" charset="0"/>
              </a:rPr>
              <a:t>shifts</a:t>
            </a:r>
            <a:r>
              <a:rPr lang="tr-TR" sz="1800" kern="0" dirty="0">
                <a:solidFill>
                  <a:srgbClr val="000000"/>
                </a:solidFill>
                <a:effectLst/>
                <a:latin typeface="Times New Roman" panose="02020603050405020304" pitchFamily="18" charset="0"/>
                <a:ea typeface="Times New Roman" panose="02020603050405020304" pitchFamily="18" charset="0"/>
              </a:rPr>
              <a:t>:</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a:solidFill>
                  <a:srgbClr val="000000"/>
                </a:solidFill>
                <a:effectLst/>
                <a:latin typeface="Times New Roman" panose="02020603050405020304" pitchFamily="18" charset="0"/>
                <a:ea typeface="Times New Roman" panose="02020603050405020304" pitchFamily="18" charset="0"/>
              </a:rPr>
              <a:t>        prob += </a:t>
            </a:r>
            <a:r>
              <a:rPr lang="tr-TR" sz="1800" kern="0" dirty="0" err="1">
                <a:solidFill>
                  <a:srgbClr val="000000"/>
                </a:solidFill>
                <a:effectLst/>
                <a:latin typeface="Times New Roman" panose="02020603050405020304" pitchFamily="18" charset="0"/>
                <a:ea typeface="Times New Roman" panose="02020603050405020304" pitchFamily="18" charset="0"/>
              </a:rPr>
              <a:t>lpSum</a:t>
            </a:r>
            <a:r>
              <a:rPr lang="tr-TR" sz="1800" kern="0" dirty="0">
                <a:solidFill>
                  <a:srgbClr val="000000"/>
                </a:solidFill>
                <a:effectLst/>
                <a:latin typeface="Times New Roman" panose="02020603050405020304" pitchFamily="18" charset="0"/>
                <a:ea typeface="Times New Roman" panose="02020603050405020304" pitchFamily="18" charset="0"/>
              </a:rPr>
              <a:t>([x[n][d][s] for n in </a:t>
            </a:r>
            <a:r>
              <a:rPr lang="tr-TR" sz="1800" kern="0" dirty="0" err="1">
                <a:solidFill>
                  <a:srgbClr val="000000"/>
                </a:solidFill>
                <a:effectLst/>
                <a:latin typeface="Times New Roman" panose="02020603050405020304" pitchFamily="18" charset="0"/>
                <a:ea typeface="Times New Roman" panose="02020603050405020304" pitchFamily="18" charset="0"/>
              </a:rPr>
              <a:t>nurses</a:t>
            </a:r>
            <a:r>
              <a:rPr lang="tr-TR" sz="1800" kern="0" dirty="0">
                <a:solidFill>
                  <a:srgbClr val="000000"/>
                </a:solidFill>
                <a:effectLst/>
                <a:latin typeface="Times New Roman" panose="02020603050405020304" pitchFamily="18" charset="0"/>
                <a:ea typeface="Times New Roman" panose="02020603050405020304" pitchFamily="18" charset="0"/>
              </a:rPr>
              <a:t>]) &gt;= </a:t>
            </a:r>
            <a:r>
              <a:rPr lang="tr-TR" sz="1800" kern="0" dirty="0" err="1">
                <a:solidFill>
                  <a:srgbClr val="000000"/>
                </a:solidFill>
                <a:effectLst/>
                <a:latin typeface="Times New Roman" panose="02020603050405020304" pitchFamily="18" charset="0"/>
                <a:ea typeface="Times New Roman" panose="02020603050405020304" pitchFamily="18" charset="0"/>
              </a:rPr>
              <a:t>worst_case_demand</a:t>
            </a:r>
            <a:r>
              <a:rPr lang="tr-TR" sz="1800" kern="0" dirty="0">
                <a:solidFill>
                  <a:srgbClr val="000000"/>
                </a:solidFill>
                <a:effectLst/>
                <a:latin typeface="Times New Roman" panose="02020603050405020304" pitchFamily="18" charset="0"/>
                <a:ea typeface="Times New Roman" panose="02020603050405020304" pitchFamily="18" charset="0"/>
              </a:rPr>
              <a:t>[d][s]</a:t>
            </a:r>
            <a:endParaRPr lang="tr-T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1699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C2F1F-88B7-E94D-6EC1-1FD45CD56295}"/>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0EF1E774-8F09-8671-E8D3-283F4BF3801C}"/>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5970F70A-3604-FC89-6A5B-35889A9C6368}"/>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37C33E73-1CF4-B17B-178D-B3648F26C6BF}"/>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4B45717D-9013-B841-FC6B-091A1AA043CB}"/>
              </a:ext>
            </a:extLst>
          </p:cNvPr>
          <p:cNvSpPr>
            <a:spLocks noGrp="1"/>
          </p:cNvSpPr>
          <p:nvPr>
            <p:ph type="ctrTitle"/>
          </p:nvPr>
        </p:nvSpPr>
        <p:spPr>
          <a:xfrm>
            <a:off x="685800" y="2130425"/>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5. PYTHON KISMI</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D4DC303-3FAB-135C-80DE-B46BB9A95EDE}"/>
              </a:ext>
            </a:extLst>
          </p:cNvPr>
          <p:cNvSpPr txBox="1"/>
          <p:nvPr/>
        </p:nvSpPr>
        <p:spPr>
          <a:xfrm>
            <a:off x="685800" y="2605136"/>
            <a:ext cx="7956755" cy="1022459"/>
          </a:xfrm>
          <a:prstGeom prst="rect">
            <a:avLst/>
          </a:prstGeom>
          <a:noFill/>
        </p:spPr>
        <p:txBody>
          <a:bodyPr wrap="square" rtlCol="0">
            <a:spAutoFit/>
          </a:bodyPr>
          <a:lstStyle/>
          <a:p>
            <a:pPr marL="0" marR="0">
              <a:lnSpc>
                <a:spcPct val="115000"/>
              </a:lnSpc>
              <a:spcAft>
                <a:spcPts val="800"/>
              </a:spcAft>
              <a:buNone/>
            </a:pPr>
            <a:r>
              <a:rPr lang="tr-TR" sz="1800" kern="0" dirty="0">
                <a:solidFill>
                  <a:srgbClr val="000000"/>
                </a:solidFill>
                <a:effectLst/>
                <a:latin typeface="Times New Roman" panose="02020603050405020304" pitchFamily="18" charset="0"/>
                <a:ea typeface="Times New Roman" panose="02020603050405020304" pitchFamily="18" charset="0"/>
              </a:rPr>
              <a:t># --- 5. MODELİN ÇALIŞTIRILMASI ---</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prob.solve</a:t>
            </a:r>
            <a:r>
              <a:rPr lang="tr-TR" sz="1800" kern="0" dirty="0">
                <a:solidFill>
                  <a:srgbClr val="000000"/>
                </a:solidFill>
                <a:effectLst/>
                <a:latin typeface="Times New Roman" panose="02020603050405020304" pitchFamily="18" charset="0"/>
                <a:ea typeface="Times New Roman" panose="02020603050405020304" pitchFamily="18" charset="0"/>
              </a:rPr>
              <a:t>()</a:t>
            </a:r>
            <a:br>
              <a:rPr lang="tr-TR" sz="1800" kern="0" dirty="0">
                <a:solidFill>
                  <a:srgbClr val="000000"/>
                </a:solidFill>
                <a:effectLst/>
                <a:latin typeface="Times New Roman" panose="02020603050405020304" pitchFamily="18" charset="0"/>
                <a:ea typeface="Times New Roman" panose="02020603050405020304" pitchFamily="18" charset="0"/>
              </a:rPr>
            </a:br>
            <a:r>
              <a:rPr lang="tr-TR" sz="1800" kern="0" dirty="0" err="1">
                <a:solidFill>
                  <a:srgbClr val="000000"/>
                </a:solidFill>
                <a:effectLst/>
                <a:latin typeface="Times New Roman" panose="02020603050405020304" pitchFamily="18" charset="0"/>
                <a:ea typeface="Times New Roman" panose="02020603050405020304" pitchFamily="18" charset="0"/>
              </a:rPr>
              <a:t>print</a:t>
            </a:r>
            <a:r>
              <a:rPr lang="tr-TR" sz="1800" kern="0" dirty="0">
                <a:solidFill>
                  <a:srgbClr val="000000"/>
                </a:solidFill>
                <a:effectLst/>
                <a:latin typeface="Times New Roman" panose="02020603050405020304" pitchFamily="18" charset="0"/>
                <a:ea typeface="Times New Roman" panose="02020603050405020304" pitchFamily="18" charset="0"/>
              </a:rPr>
              <a:t>("Durum:", </a:t>
            </a:r>
            <a:r>
              <a:rPr lang="tr-TR" sz="1800" kern="0" dirty="0" err="1">
                <a:solidFill>
                  <a:srgbClr val="000000"/>
                </a:solidFill>
                <a:effectLst/>
                <a:latin typeface="Times New Roman" panose="02020603050405020304" pitchFamily="18" charset="0"/>
                <a:ea typeface="Times New Roman" panose="02020603050405020304" pitchFamily="18" charset="0"/>
              </a:rPr>
              <a:t>LpStatus</a:t>
            </a:r>
            <a:r>
              <a:rPr lang="tr-TR" sz="1800" kern="0" dirty="0">
                <a:solidFill>
                  <a:srgbClr val="000000"/>
                </a:solidFill>
                <a:effectLst/>
                <a:latin typeface="Times New Roman" panose="02020603050405020304" pitchFamily="18" charset="0"/>
                <a:ea typeface="Times New Roman" panose="02020603050405020304" pitchFamily="18" charset="0"/>
              </a:rPr>
              <a:t>[</a:t>
            </a:r>
            <a:r>
              <a:rPr lang="tr-TR" sz="1800" kern="0" dirty="0" err="1">
                <a:solidFill>
                  <a:srgbClr val="000000"/>
                </a:solidFill>
                <a:effectLst/>
                <a:latin typeface="Times New Roman" panose="02020603050405020304" pitchFamily="18" charset="0"/>
                <a:ea typeface="Times New Roman" panose="02020603050405020304" pitchFamily="18" charset="0"/>
              </a:rPr>
              <a:t>prob.status</a:t>
            </a:r>
            <a:r>
              <a:rPr lang="tr-TR" sz="1800" kern="0" dirty="0">
                <a:solidFill>
                  <a:srgbClr val="000000"/>
                </a:solidFill>
                <a:effectLst/>
                <a:latin typeface="Times New Roman" panose="02020603050405020304" pitchFamily="18" charset="0"/>
                <a:ea typeface="Times New Roman" panose="02020603050405020304" pitchFamily="18" charset="0"/>
              </a:rPr>
              <a:t>])</a:t>
            </a:r>
            <a:endParaRPr lang="tr-T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3439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6AA9F-9202-D33C-A64E-1816303F2E84}"/>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CE0A556C-4730-9FC9-ED31-52D35DDEC27E}"/>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3EDACE49-5A67-9F1F-C493-767CFD2B549E}"/>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DC5F3E12-18DA-1FCB-00A5-F95E2E8F5D2C}"/>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90F1C289-7082-D5A5-0E03-4F5DEDFE8F14}"/>
              </a:ext>
            </a:extLst>
          </p:cNvPr>
          <p:cNvSpPr>
            <a:spLocks noGrp="1"/>
          </p:cNvSpPr>
          <p:nvPr>
            <p:ph type="ctrTitle"/>
          </p:nvPr>
        </p:nvSpPr>
        <p:spPr>
          <a:xfrm>
            <a:off x="685801" y="1554338"/>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6. SONUÇLAR</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C1E3B65-0F83-D421-952A-411C6B7A1D18}"/>
              </a:ext>
            </a:extLst>
          </p:cNvPr>
          <p:cNvSpPr txBox="1"/>
          <p:nvPr/>
        </p:nvSpPr>
        <p:spPr>
          <a:xfrm>
            <a:off x="685799" y="2191752"/>
            <a:ext cx="7956755" cy="1973745"/>
          </a:xfrm>
          <a:prstGeom prst="rect">
            <a:avLst/>
          </a:prstGeom>
          <a:noFill/>
        </p:spPr>
        <p:txBody>
          <a:bodyPr wrap="square" rtlCol="0">
            <a:spAutoFit/>
          </a:bodyPr>
          <a:lstStyle/>
          <a:p>
            <a:pPr marL="342900" marR="0" indent="-342900">
              <a:lnSpc>
                <a:spcPct val="115000"/>
              </a:lnSpc>
              <a:spcAft>
                <a:spcPts val="800"/>
              </a:spcAft>
              <a:buFont typeface="Arial" panose="020B0604020202020204" pitchFamily="34" charset="0"/>
              <a:buChar char="•"/>
            </a:pPr>
            <a:r>
              <a:rPr lang="tr-TR" sz="1600" dirty="0" err="1">
                <a:latin typeface="Times New Roman" panose="02020603050405020304" pitchFamily="18" charset="0"/>
                <a:cs typeface="Times New Roman" panose="02020603050405020304" pitchFamily="18" charset="0"/>
              </a:rPr>
              <a:t>Robust</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Integer</a:t>
            </a:r>
            <a:r>
              <a:rPr lang="tr-TR" sz="1600" dirty="0">
                <a:latin typeface="Times New Roman" panose="02020603050405020304" pitchFamily="18" charset="0"/>
                <a:cs typeface="Times New Roman" panose="02020603050405020304" pitchFamily="18" charset="0"/>
              </a:rPr>
              <a:t> Programming modeli, 411 farklı talep senaryosu altında çalıştırılarak 29 hemşirenin atandığı optimal vardiya çizelgesi elde edilmiştir.</a:t>
            </a:r>
          </a:p>
          <a:p>
            <a:pPr marL="342900" marR="0" indent="-342900">
              <a:lnSpc>
                <a:spcPct val="115000"/>
              </a:lnSpc>
              <a:spcAft>
                <a:spcPts val="800"/>
              </a:spcAft>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Elde edilen çizelgede hemşirelerin haftalık çalışma düzenleri, yasal kısıtlar ve iş yükü dengesi gözetilerek optimize edilmiştir.</a:t>
            </a:r>
          </a:p>
          <a:p>
            <a:pPr marL="342900" marR="0" indent="-342900">
              <a:lnSpc>
                <a:spcPct val="115000"/>
              </a:lnSpc>
              <a:spcAft>
                <a:spcPts val="800"/>
              </a:spcAft>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Tüm hemşireler için haftalık toplam çalışma süresi 5 gün olarak belirlenmiş ve adil görev dağılımı sağlanmıştır.</a:t>
            </a:r>
          </a:p>
        </p:txBody>
      </p:sp>
    </p:spTree>
    <p:extLst>
      <p:ext uri="{BB962C8B-B14F-4D97-AF65-F5344CB8AC3E}">
        <p14:creationId xmlns:p14="http://schemas.microsoft.com/office/powerpoint/2010/main" val="1636096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6A31-C8D6-D7CC-AB92-103C9E49A86B}"/>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8337D385-256A-CCC8-C2F8-42D1C4C95CA8}"/>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2C229446-9D96-EAFF-0AFB-45E7B5A3376A}"/>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3944CB48-02E9-1998-60CF-8733DFF24A5E}"/>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3BC0910F-DD7B-F649-7A14-F66EF6716201}"/>
              </a:ext>
            </a:extLst>
          </p:cNvPr>
          <p:cNvSpPr>
            <a:spLocks noGrp="1"/>
          </p:cNvSpPr>
          <p:nvPr>
            <p:ph type="ctrTitle"/>
          </p:nvPr>
        </p:nvSpPr>
        <p:spPr>
          <a:xfrm>
            <a:off x="685800" y="1723484"/>
            <a:ext cx="7772400" cy="701265"/>
          </a:xfrm>
        </p:spPr>
        <p:txBody>
          <a:bodyPr>
            <a:normAutofit/>
          </a:bodyPr>
          <a:lstStyle/>
          <a:p>
            <a:pPr algn="l">
              <a:lnSpc>
                <a:spcPct val="150000"/>
              </a:lnSpc>
            </a:pP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5466A14-A347-EF68-EB29-644FF7BDC2AF}"/>
              </a:ext>
            </a:extLst>
          </p:cNvPr>
          <p:cNvSpPr txBox="1"/>
          <p:nvPr/>
        </p:nvSpPr>
        <p:spPr>
          <a:xfrm>
            <a:off x="2617839" y="1403691"/>
            <a:ext cx="3908322" cy="369332"/>
          </a:xfrm>
          <a:prstGeom prst="rect">
            <a:avLst/>
          </a:prstGeom>
          <a:noFill/>
        </p:spPr>
        <p:txBody>
          <a:bodyPr wrap="square" rtlCol="0">
            <a:spAutoFit/>
          </a:bodyPr>
          <a:lstStyle/>
          <a:p>
            <a:r>
              <a:rPr lang="tr-TR"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Optimal Çizelge (Özet Görünüm)</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Resim 2">
            <a:extLst>
              <a:ext uri="{FF2B5EF4-FFF2-40B4-BE49-F238E27FC236}">
                <a16:creationId xmlns:a16="http://schemas.microsoft.com/office/drawing/2014/main" id="{38C0C426-6018-E3F0-E315-DEB6175DB0E8}"/>
              </a:ext>
            </a:extLst>
          </p:cNvPr>
          <p:cNvPicPr>
            <a:picLocks noChangeAspect="1"/>
          </p:cNvPicPr>
          <p:nvPr/>
        </p:nvPicPr>
        <p:blipFill>
          <a:blip r:embed="rId3"/>
          <a:stretch>
            <a:fillRect/>
          </a:stretch>
        </p:blipFill>
        <p:spPr>
          <a:xfrm>
            <a:off x="829994" y="1983145"/>
            <a:ext cx="7343850" cy="4250388"/>
          </a:xfrm>
          <a:prstGeom prst="rect">
            <a:avLst/>
          </a:prstGeom>
        </p:spPr>
      </p:pic>
    </p:spTree>
    <p:extLst>
      <p:ext uri="{BB962C8B-B14F-4D97-AF65-F5344CB8AC3E}">
        <p14:creationId xmlns:p14="http://schemas.microsoft.com/office/powerpoint/2010/main" val="2363043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A178F-74C2-9B2E-595D-96C2EC9384BB}"/>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C3A7641F-11E3-ADBF-CB6B-CAF0E80EB01D}"/>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FE720462-1489-DCBF-1FFA-D47DDD95468E}"/>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54FF46C6-061F-36D9-8AFD-F7262894BE64}"/>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463E3F8A-3683-26B4-F16A-C60B9F9C90A8}"/>
              </a:ext>
            </a:extLst>
          </p:cNvPr>
          <p:cNvSpPr>
            <a:spLocks noGrp="1"/>
          </p:cNvSpPr>
          <p:nvPr>
            <p:ph type="ctrTitle"/>
          </p:nvPr>
        </p:nvSpPr>
        <p:spPr>
          <a:xfrm>
            <a:off x="685800" y="1583722"/>
            <a:ext cx="7772400" cy="701265"/>
          </a:xfrm>
        </p:spPr>
        <p:txBody>
          <a:bodyPr>
            <a:normAutofit fontScale="90000"/>
          </a:bodyPr>
          <a:lstStyle/>
          <a:p>
            <a:pPr algn="l">
              <a:lnSpc>
                <a:spcPct val="150000"/>
              </a:lnSpc>
            </a:pPr>
            <a:r>
              <a:rPr lang="tr-TR" sz="1800" b="1" dirty="0">
                <a:latin typeface="Times New Roman" panose="02020603050405020304" pitchFamily="18" charset="0"/>
                <a:cs typeface="Times New Roman" panose="02020603050405020304" pitchFamily="18" charset="0"/>
              </a:rPr>
              <a:t>6. YORUMLAR</a:t>
            </a: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D1BD85A-4930-AE6A-9F0F-8FC0C0E3B76F}"/>
              </a:ext>
            </a:extLst>
          </p:cNvPr>
          <p:cNvSpPr txBox="1"/>
          <p:nvPr/>
        </p:nvSpPr>
        <p:spPr>
          <a:xfrm>
            <a:off x="685799" y="2203459"/>
            <a:ext cx="8281219" cy="3988592"/>
          </a:xfrm>
          <a:prstGeom prst="rect">
            <a:avLst/>
          </a:prstGeom>
          <a:noFill/>
        </p:spPr>
        <p:txBody>
          <a:bodyPr wrap="square" rtlCol="0">
            <a:spAutoFit/>
          </a:bodyPr>
          <a:lstStyle/>
          <a:p>
            <a:pPr marL="342900" marR="0" indent="-342900">
              <a:lnSpc>
                <a:spcPct val="115000"/>
              </a:lnSpc>
              <a:spcAft>
                <a:spcPts val="800"/>
              </a:spcAft>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Elde edilen bulgular, </a:t>
            </a:r>
            <a:r>
              <a:rPr lang="tr-TR" sz="1600" dirty="0" err="1">
                <a:latin typeface="Times New Roman" panose="02020603050405020304" pitchFamily="18" charset="0"/>
                <a:cs typeface="Times New Roman" panose="02020603050405020304" pitchFamily="18" charset="0"/>
              </a:rPr>
              <a:t>Robust</a:t>
            </a:r>
            <a:r>
              <a:rPr lang="tr-TR" sz="1600" dirty="0">
                <a:latin typeface="Times New Roman" panose="02020603050405020304" pitchFamily="18" charset="0"/>
                <a:cs typeface="Times New Roman" panose="02020603050405020304" pitchFamily="18" charset="0"/>
              </a:rPr>
              <a:t> </a:t>
            </a:r>
            <a:r>
              <a:rPr lang="tr-TR" sz="1600" dirty="0" err="1">
                <a:latin typeface="Times New Roman" panose="02020603050405020304" pitchFamily="18" charset="0"/>
                <a:cs typeface="Times New Roman" panose="02020603050405020304" pitchFamily="18" charset="0"/>
              </a:rPr>
              <a:t>Integer</a:t>
            </a:r>
            <a:r>
              <a:rPr lang="tr-TR" sz="1600" dirty="0">
                <a:latin typeface="Times New Roman" panose="02020603050405020304" pitchFamily="18" charset="0"/>
                <a:cs typeface="Times New Roman" panose="02020603050405020304" pitchFamily="18" charset="0"/>
              </a:rPr>
              <a:t> Programming yaklaşımının hastane vardiya planlamasında sürdürülebilir ve güçlü bir karar destek aracı olduğunu göstermektedir.</a:t>
            </a:r>
          </a:p>
          <a:p>
            <a:pPr marL="342900" marR="0" indent="-342900">
              <a:lnSpc>
                <a:spcPct val="115000"/>
              </a:lnSpc>
              <a:spcAft>
                <a:spcPts val="800"/>
              </a:spcAft>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Modelin temel katkısı, tekil talep tahminleri yerine 411 senaryoyu kapsayan geniş bir belirsizlik uzayına karşı dayanıklı bir yapı sunmasıdır.</a:t>
            </a:r>
          </a:p>
          <a:p>
            <a:pPr marL="342900" marR="0" indent="-342900">
              <a:lnSpc>
                <a:spcPct val="115000"/>
              </a:lnSpc>
              <a:spcAft>
                <a:spcPts val="800"/>
              </a:spcAft>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Bu dayanıklı yapı, hastaneleri salgınlar, ani yoğunluk artışları ve zincirleme krizler gibi öngörülemeyen durumlara karşı korunaklı hale getirmektedir.</a:t>
            </a:r>
          </a:p>
          <a:p>
            <a:pPr marL="342900" marR="0" indent="-342900">
              <a:lnSpc>
                <a:spcPct val="115000"/>
              </a:lnSpc>
              <a:spcAft>
                <a:spcPts val="800"/>
              </a:spcAft>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Hemşirelerin haftalık eşit sayıda (5 gün) vardiyaya atanması, iş yükü dengesini sağlayarak personel memnuniyetini ve sürdürülebilirliği artırmaktadır.</a:t>
            </a:r>
          </a:p>
          <a:p>
            <a:pPr marL="342900" marR="0" indent="-342900">
              <a:lnSpc>
                <a:spcPct val="115000"/>
              </a:lnSpc>
              <a:spcAft>
                <a:spcPts val="800"/>
              </a:spcAft>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Analizlerde gözlenen kapasite aşımları, en kötü senaryoda mevcut kadronun tek başına yeterli olmayabileceğini ortaya koymaktadır.</a:t>
            </a:r>
          </a:p>
          <a:p>
            <a:pPr marL="342900" marR="0" indent="-342900">
              <a:lnSpc>
                <a:spcPct val="115000"/>
              </a:lnSpc>
              <a:spcAft>
                <a:spcPts val="800"/>
              </a:spcAft>
              <a:buFont typeface="Arial" panose="020B0604020202020204" pitchFamily="34" charset="0"/>
              <a:buChar char="•"/>
            </a:pPr>
            <a:r>
              <a:rPr lang="tr-TR" sz="1600" dirty="0">
                <a:latin typeface="Times New Roman" panose="02020603050405020304" pitchFamily="18" charset="0"/>
                <a:cs typeface="Times New Roman" panose="02020603050405020304" pitchFamily="18" charset="0"/>
              </a:rPr>
              <a:t>Bu nedenle, modelin sağladığı dirençli planlamanın on-</a:t>
            </a:r>
            <a:r>
              <a:rPr lang="tr-TR" sz="1600" dirty="0" err="1">
                <a:latin typeface="Times New Roman" panose="02020603050405020304" pitchFamily="18" charset="0"/>
                <a:cs typeface="Times New Roman" panose="02020603050405020304" pitchFamily="18" charset="0"/>
              </a:rPr>
              <a:t>call</a:t>
            </a:r>
            <a:r>
              <a:rPr lang="tr-TR" sz="1600" dirty="0">
                <a:latin typeface="Times New Roman" panose="02020603050405020304" pitchFamily="18" charset="0"/>
                <a:cs typeface="Times New Roman" panose="02020603050405020304" pitchFamily="18" charset="0"/>
              </a:rPr>
              <a:t> (icapçı) hemşire sistemleri gibi esnek operasyonel mekanizmalarla desteklenmesi gerekmektedir.</a:t>
            </a:r>
            <a:endParaRPr lang="tr-TR" sz="16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1808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DBDE-9A46-1F02-3BC9-7C711BFC6CA9}"/>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A62ACBFC-4C85-B662-E036-9FBB031D7F33}"/>
              </a:ext>
            </a:extLst>
          </p:cNvPr>
          <p:cNvSpPr>
            <a:spLocks noChangeArrowheads="1"/>
          </p:cNvSpPr>
          <p:nvPr/>
        </p:nvSpPr>
        <p:spPr bwMode="auto">
          <a:xfrm>
            <a:off x="829994"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Rectangle 3">
            <a:extLst>
              <a:ext uri="{FF2B5EF4-FFF2-40B4-BE49-F238E27FC236}">
                <a16:creationId xmlns:a16="http://schemas.microsoft.com/office/drawing/2014/main" id="{0EF38C80-922F-D76E-2E23-DDC440F6676E}"/>
              </a:ext>
            </a:extLst>
          </p:cNvPr>
          <p:cNvSpPr>
            <a:spLocks noChangeArrowheads="1"/>
          </p:cNvSpPr>
          <p:nvPr/>
        </p:nvSpPr>
        <p:spPr bwMode="auto">
          <a:xfrm>
            <a:off x="2184554" y="-43626"/>
            <a:ext cx="6129452" cy="135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1pPr>
            <a:lvl2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2pPr>
            <a:lvl3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3pPr>
            <a:lvl4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4pPr>
            <a:lvl5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5pPr>
            <a:lvl6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6pPr>
            <a:lvl7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7pPr>
            <a:lvl8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8pPr>
            <a:lvl9pPr eaLnBrk="0" fontAlgn="base" hangingPunct="0">
              <a:spcBef>
                <a:spcPct val="0"/>
              </a:spcBef>
              <a:spcAft>
                <a:spcPct val="0"/>
              </a:spcAft>
              <a:tabLst>
                <a:tab pos="2879725" algn="ctr"/>
                <a:tab pos="57610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r>
              <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kumimoji="0" lang="tr-TR" altLang="tr-TR"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879725" algn="ctr"/>
                <a:tab pos="5761038" algn="r"/>
              </a:tabLst>
            </a:pPr>
            <a:endParaRPr lang="tr-TR" altLang="tr-TR" sz="1100" dirty="0">
              <a:latin typeface="Calibri" panose="020F0502020204030204" pitchFamily="34" charset="0"/>
              <a:ea typeface="Calibri" panose="020F0502020204030204" pitchFamily="34" charset="0"/>
              <a:cs typeface="Times New Roman" panose="02020603050405020304" pitchFamily="18" charset="0"/>
            </a:endParaRPr>
          </a:p>
          <a:p>
            <a:pPr marL="0" marR="1602105" algn="ctr">
              <a:lnSpc>
                <a:spcPct val="107000"/>
              </a:lnSpc>
              <a:spcAft>
                <a:spcPts val="800"/>
              </a:spcAft>
              <a:buNone/>
            </a:pPr>
            <a:r>
              <a:rPr lang="tr-TR" sz="1800" b="1" kern="100"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   İSTANBUL ÜNİVERSİTESİ –CERRAHPAŞA  </a:t>
            </a:r>
            <a:r>
              <a:rPr lang="tr-TR" sz="1800" b="1" dirty="0">
                <a:solidFill>
                  <a:srgbClr val="203864"/>
                </a:solidFill>
                <a:effectLst/>
                <a:latin typeface="Aptos" panose="020B0004020202020204" pitchFamily="34" charset="0"/>
                <a:ea typeface="Aptos" panose="020B0004020202020204" pitchFamily="34" charset="0"/>
                <a:cs typeface="Times New Roman" panose="02020603050405020304" pitchFamily="18" charset="0"/>
              </a:rPr>
              <a:t>LİSANSÜSTÜ EĞİTİM ENSTİTÜSÜ </a:t>
            </a:r>
            <a:r>
              <a:rPr lang="tr-TR" altLang="tr-TR" sz="1400" dirty="0">
                <a:latin typeface="Times New Roman" panose="02020603050405020304" pitchFamily="18" charset="0"/>
                <a:cs typeface="Times New Roman" panose="02020603050405020304" pitchFamily="18" charset="0"/>
              </a:rPr>
              <a:t> </a:t>
            </a:r>
            <a:endParaRPr kumimoji="0" lang="tr-TR" altLang="tr-T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descr="amblem, ticari marka, simge, sembol, logo içeren bir resim&#10;&#10;Yapay zeka tarafından oluşturulan içerik yanlış olabilir.">
            <a:extLst>
              <a:ext uri="{FF2B5EF4-FFF2-40B4-BE49-F238E27FC236}">
                <a16:creationId xmlns:a16="http://schemas.microsoft.com/office/drawing/2014/main" id="{5BC11CA5-C8ED-212C-64AE-7DDA29A22192}"/>
              </a:ext>
            </a:extLst>
          </p:cNvPr>
          <p:cNvPicPr/>
          <p:nvPr/>
        </p:nvPicPr>
        <p:blipFill>
          <a:blip r:embed="rId2"/>
          <a:stretch>
            <a:fillRect/>
          </a:stretch>
        </p:blipFill>
        <p:spPr>
          <a:xfrm>
            <a:off x="148321" y="372176"/>
            <a:ext cx="1074957" cy="1070574"/>
          </a:xfrm>
          <a:prstGeom prst="rect">
            <a:avLst/>
          </a:prstGeom>
        </p:spPr>
      </p:pic>
      <p:sp>
        <p:nvSpPr>
          <p:cNvPr id="7" name="Title 6">
            <a:extLst>
              <a:ext uri="{FF2B5EF4-FFF2-40B4-BE49-F238E27FC236}">
                <a16:creationId xmlns:a16="http://schemas.microsoft.com/office/drawing/2014/main" id="{AF78A0CC-457B-9485-2CAB-646B86058DF5}"/>
              </a:ext>
            </a:extLst>
          </p:cNvPr>
          <p:cNvSpPr>
            <a:spLocks noGrp="1"/>
          </p:cNvSpPr>
          <p:nvPr>
            <p:ph type="ctrTitle"/>
          </p:nvPr>
        </p:nvSpPr>
        <p:spPr>
          <a:xfrm>
            <a:off x="685800" y="1814926"/>
            <a:ext cx="7772400" cy="701265"/>
          </a:xfrm>
        </p:spPr>
        <p:txBody>
          <a:bodyPr>
            <a:normAutofit/>
          </a:bodyPr>
          <a:lstStyle/>
          <a:p>
            <a:pPr algn="l">
              <a:lnSpc>
                <a:spcPct val="150000"/>
              </a:lnSpc>
            </a:pPr>
            <a:br>
              <a:rPr lang="tr-TR" sz="1200" b="1" dirty="0">
                <a:latin typeface="Times New Roman" panose="02020603050405020304" pitchFamily="18" charset="0"/>
                <a:cs typeface="Times New Roman" panose="02020603050405020304" pitchFamily="18" charset="0"/>
              </a:rPr>
            </a:br>
            <a:endParaRPr lang="tr-TR" sz="1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53B2C44-7F93-9A16-AEAC-228E3A9E7883}"/>
              </a:ext>
            </a:extLst>
          </p:cNvPr>
          <p:cNvSpPr txBox="1"/>
          <p:nvPr/>
        </p:nvSpPr>
        <p:spPr>
          <a:xfrm>
            <a:off x="2448591" y="2666137"/>
            <a:ext cx="4583061" cy="1166730"/>
          </a:xfrm>
          <a:prstGeom prst="rect">
            <a:avLst/>
          </a:prstGeom>
          <a:noFill/>
        </p:spPr>
        <p:txBody>
          <a:bodyPr wrap="square" rtlCol="0">
            <a:spAutoFit/>
          </a:bodyPr>
          <a:lstStyle/>
          <a:p>
            <a:pPr marR="0">
              <a:lnSpc>
                <a:spcPct val="115000"/>
              </a:lnSpc>
              <a:spcAft>
                <a:spcPts val="800"/>
              </a:spcAft>
            </a:pPr>
            <a:r>
              <a:rPr lang="tr-TR" sz="6600" kern="100" dirty="0">
                <a:effectLst/>
                <a:latin typeface="Times New Roman" panose="02020603050405020304" pitchFamily="18" charset="0"/>
                <a:ea typeface="Aptos" panose="020B0004020202020204" pitchFamily="34" charset="0"/>
                <a:cs typeface="Times New Roman" panose="02020603050405020304" pitchFamily="18" charset="0"/>
              </a:rPr>
              <a:t>Teşekkürler</a:t>
            </a:r>
          </a:p>
        </p:txBody>
      </p:sp>
    </p:spTree>
    <p:extLst>
      <p:ext uri="{BB962C8B-B14F-4D97-AF65-F5344CB8AC3E}">
        <p14:creationId xmlns:p14="http://schemas.microsoft.com/office/powerpoint/2010/main" val="664055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2323</TotalTime>
  <Words>1667</Words>
  <Application>Microsoft Macintosh PowerPoint</Application>
  <PresentationFormat>Ekran Gösterisi (4:3)</PresentationFormat>
  <Paragraphs>240</Paragraphs>
  <Slides>19</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19</vt:i4>
      </vt:variant>
    </vt:vector>
  </HeadingPairs>
  <TitlesOfParts>
    <vt:vector size="25" baseType="lpstr">
      <vt:lpstr>Aptos</vt:lpstr>
      <vt:lpstr>Arial</vt:lpstr>
      <vt:lpstr>Calibri</vt:lpstr>
      <vt:lpstr>Symbol</vt:lpstr>
      <vt:lpstr>Times New Roman</vt:lpstr>
      <vt:lpstr>Office Theme</vt:lpstr>
      <vt:lpstr>İLERİ MATEMATİK PROGRAMLAMA (ETMU7044)  FİNAL ÖDEVİ                                                                                                                            HASTANE HEMŞİRE VARDİYA ÇİZELGELEME VE İŞ YÜKÜ OPTİMİZASYONU  DANIŞMAN: Dr. Öğr. Üyesi Özay ÖZAYDIN  Betül AKSAKAL 4801240665 Aysun ÖZTÜRK 4801250645 Hande TOPRAK 4801240673       </vt:lpstr>
      <vt:lpstr>1. GİRİŞ 2. LİTERATÜR TARAMASI 3. PROBLEM TANIMI 3. VERİ SETİ TANITIMI  4. MODEL TANITIMI  4.1 KARAR DEĞİŞKENLERİ  4.2 AMAÇ FONKSİYONU  4.3 KISITLAR  4.4 VARSAYIMLAR  5. PYTHON KISMI  6. SONUÇLAR  7. YORUMLAR   </vt:lpstr>
      <vt:lpstr>1. GİRİŞ </vt:lpstr>
      <vt:lpstr>2. LİTERATÜR TARAMASI </vt:lpstr>
      <vt:lpstr>3. PROBLEM TANIMI </vt:lpstr>
      <vt:lpstr>4. MODEL TANITIMI </vt:lpstr>
      <vt:lpstr>4. VERİ SETİ TANITIMI </vt:lpstr>
      <vt:lpstr>4.1 KARAR DEĞİŞKENLERİ </vt:lpstr>
      <vt:lpstr>4.2 AMAÇ FONKSİYONU </vt:lpstr>
      <vt:lpstr>4.3 KISITLAR </vt:lpstr>
      <vt:lpstr>4.4 VARSAYIMLAR </vt:lpstr>
      <vt:lpstr>5. PYTHON KISMI </vt:lpstr>
      <vt:lpstr>5. PYTHON KISMI </vt:lpstr>
      <vt:lpstr>5. PYTHON KISMI </vt:lpstr>
      <vt:lpstr>5. PYTHON KISMI </vt:lpstr>
      <vt:lpstr>6. SONUÇLAR </vt:lpstr>
      <vt:lpstr> </vt:lpstr>
      <vt:lpstr>6. YORUMLAR </vt:lpstr>
      <vt:lpstr>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CPP103/VCI101 Devreler ve Elektronik</dc:title>
  <dc:subject/>
  <dc:creator>python-docx</dc:creator>
  <cp:keywords/>
  <dc:description>generated using python-pptx</dc:description>
  <cp:lastModifiedBy>BETUL AKSAKAL</cp:lastModifiedBy>
  <cp:revision>142</cp:revision>
  <dcterms:created xsi:type="dcterms:W3CDTF">2013-01-27T09:14:16Z</dcterms:created>
  <dcterms:modified xsi:type="dcterms:W3CDTF">2026-01-14T07:24:09Z</dcterms:modified>
  <cp:category/>
</cp:coreProperties>
</file>